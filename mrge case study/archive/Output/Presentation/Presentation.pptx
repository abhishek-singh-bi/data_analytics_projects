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722"/>
  </p:normalViewPr>
  <p:slideViewPr>
    <p:cSldViewPr snapToGrid="0">
      <p:cViewPr varScale="1">
        <p:scale>
          <a:sx n="118" d="100"/>
          <a:sy n="118" d="100"/>
        </p:scale>
        <p:origin x="3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71B4CA-D50D-4EFA-8783-5420A2C4D5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EE7428-3B6C-4208-8FF7-03314606CA88}">
      <dgm:prSet/>
      <dgm:spPr/>
      <dgm:t>
        <a:bodyPr/>
        <a:lstStyle/>
        <a:p>
          <a:r>
            <a:rPr lang="en-US" b="1" dirty="0"/>
            <a:t>Analyst: </a:t>
          </a:r>
          <a:r>
            <a:rPr lang="en-US" b="0" dirty="0"/>
            <a:t>Abhishek Singh</a:t>
          </a:r>
        </a:p>
      </dgm:t>
    </dgm:pt>
    <dgm:pt modelId="{279FD47F-9D33-42C1-9D37-654B1671C029}" type="parTrans" cxnId="{966F42B7-037F-46F8-A3E9-A2221046A5D8}">
      <dgm:prSet/>
      <dgm:spPr/>
      <dgm:t>
        <a:bodyPr/>
        <a:lstStyle/>
        <a:p>
          <a:endParaRPr lang="en-US"/>
        </a:p>
      </dgm:t>
    </dgm:pt>
    <dgm:pt modelId="{5D59186B-113F-41FA-A350-2D2E0F598669}" type="sibTrans" cxnId="{966F42B7-037F-46F8-A3E9-A2221046A5D8}">
      <dgm:prSet/>
      <dgm:spPr/>
      <dgm:t>
        <a:bodyPr/>
        <a:lstStyle/>
        <a:p>
          <a:endParaRPr lang="en-US"/>
        </a:p>
      </dgm:t>
    </dgm:pt>
    <dgm:pt modelId="{7F803E72-6AE5-4BBB-ABD6-9C7FA12A4F4B}">
      <dgm:prSet/>
      <dgm:spPr/>
      <dgm:t>
        <a:bodyPr/>
        <a:lstStyle/>
        <a:p>
          <a:r>
            <a:rPr lang="en-US" b="1" dirty="0"/>
            <a:t>Tech Stack: </a:t>
          </a:r>
          <a:r>
            <a:rPr lang="en-US" b="0" dirty="0"/>
            <a:t>Python, </a:t>
          </a:r>
          <a:r>
            <a:rPr lang="en-US" b="0" dirty="0" err="1"/>
            <a:t>Jupyter</a:t>
          </a:r>
          <a:r>
            <a:rPr lang="en-US" b="0" dirty="0"/>
            <a:t> Notebook, SQL, Tableau, Microsoft </a:t>
          </a:r>
          <a:r>
            <a:rPr lang="en-US" b="0" dirty="0" err="1"/>
            <a:t>Powerpoint</a:t>
          </a:r>
          <a:r>
            <a:rPr lang="en-US" b="0" dirty="0"/>
            <a:t>, </a:t>
          </a:r>
          <a:r>
            <a:rPr lang="en-US" b="0" dirty="0" err="1"/>
            <a:t>draw.io</a:t>
          </a:r>
          <a:endParaRPr lang="en-US" b="0" dirty="0"/>
        </a:p>
      </dgm:t>
    </dgm:pt>
    <dgm:pt modelId="{3FB7DA75-ECBF-4B3C-93DE-B881E85EBC03}" type="parTrans" cxnId="{33FDED86-532F-4981-BA91-A684500E8010}">
      <dgm:prSet/>
      <dgm:spPr/>
      <dgm:t>
        <a:bodyPr/>
        <a:lstStyle/>
        <a:p>
          <a:endParaRPr lang="en-US"/>
        </a:p>
      </dgm:t>
    </dgm:pt>
    <dgm:pt modelId="{8BCB8987-18B8-464A-9C9E-CF668E178DDA}" type="sibTrans" cxnId="{33FDED86-532F-4981-BA91-A684500E8010}">
      <dgm:prSet/>
      <dgm:spPr/>
      <dgm:t>
        <a:bodyPr/>
        <a:lstStyle/>
        <a:p>
          <a:endParaRPr lang="en-US"/>
        </a:p>
      </dgm:t>
    </dgm:pt>
    <dgm:pt modelId="{58F0AD67-1900-410C-9140-575147B1BEC1}">
      <dgm:prSet/>
      <dgm:spPr/>
      <dgm:t>
        <a:bodyPr/>
        <a:lstStyle/>
        <a:p>
          <a:r>
            <a:rPr lang="en-US" b="1" dirty="0"/>
            <a:t>Date: </a:t>
          </a:r>
          <a:r>
            <a:rPr lang="en-US" b="0" dirty="0"/>
            <a:t>Jan-2026</a:t>
          </a:r>
        </a:p>
      </dgm:t>
    </dgm:pt>
    <dgm:pt modelId="{545002D5-7D01-471A-B265-3B4DCAC23039}" type="parTrans" cxnId="{336A1FA6-1E6F-4DE5-9075-BC4C9FB9C8F2}">
      <dgm:prSet/>
      <dgm:spPr/>
      <dgm:t>
        <a:bodyPr/>
        <a:lstStyle/>
        <a:p>
          <a:endParaRPr lang="en-US"/>
        </a:p>
      </dgm:t>
    </dgm:pt>
    <dgm:pt modelId="{AEB42048-3EE5-48E4-A9AD-F726F55D42F4}" type="sibTrans" cxnId="{336A1FA6-1E6F-4DE5-9075-BC4C9FB9C8F2}">
      <dgm:prSet/>
      <dgm:spPr/>
      <dgm:t>
        <a:bodyPr/>
        <a:lstStyle/>
        <a:p>
          <a:endParaRPr lang="en-US"/>
        </a:p>
      </dgm:t>
    </dgm:pt>
    <dgm:pt modelId="{8D54C959-5F60-46DB-B6A4-F89801080E02}" type="pres">
      <dgm:prSet presAssocID="{4571B4CA-D50D-4EFA-8783-5420A2C4D529}" presName="root" presStyleCnt="0">
        <dgm:presLayoutVars>
          <dgm:dir/>
          <dgm:resizeHandles val="exact"/>
        </dgm:presLayoutVars>
      </dgm:prSet>
      <dgm:spPr/>
    </dgm:pt>
    <dgm:pt modelId="{C7D71BDF-594A-4003-958C-991C98BC6405}" type="pres">
      <dgm:prSet presAssocID="{47EE7428-3B6C-4208-8FF7-03314606CA88}" presName="compNode" presStyleCnt="0"/>
      <dgm:spPr/>
    </dgm:pt>
    <dgm:pt modelId="{3A494E38-3090-4A07-B160-5991F702FD76}" type="pres">
      <dgm:prSet presAssocID="{47EE7428-3B6C-4208-8FF7-03314606CA88}" presName="bgRect" presStyleLbl="bgShp" presStyleIdx="0" presStyleCnt="3"/>
      <dgm:spPr/>
    </dgm:pt>
    <dgm:pt modelId="{1CED9119-7A07-4005-A90F-AB538324AF75}" type="pres">
      <dgm:prSet presAssocID="{47EE7428-3B6C-4208-8FF7-03314606CA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50E77C2A-EC25-4422-A1AF-EE0F72A839C9}" type="pres">
      <dgm:prSet presAssocID="{47EE7428-3B6C-4208-8FF7-03314606CA88}" presName="spaceRect" presStyleCnt="0"/>
      <dgm:spPr/>
    </dgm:pt>
    <dgm:pt modelId="{7CAADD2A-D00C-4D3B-9743-608233DB7183}" type="pres">
      <dgm:prSet presAssocID="{47EE7428-3B6C-4208-8FF7-03314606CA88}" presName="parTx" presStyleLbl="revTx" presStyleIdx="0" presStyleCnt="3">
        <dgm:presLayoutVars>
          <dgm:chMax val="0"/>
          <dgm:chPref val="0"/>
        </dgm:presLayoutVars>
      </dgm:prSet>
      <dgm:spPr/>
    </dgm:pt>
    <dgm:pt modelId="{0D7B60EB-1A69-46C6-A9DB-D5E329D6447C}" type="pres">
      <dgm:prSet presAssocID="{5D59186B-113F-41FA-A350-2D2E0F598669}" presName="sibTrans" presStyleCnt="0"/>
      <dgm:spPr/>
    </dgm:pt>
    <dgm:pt modelId="{F5A5D09B-CC10-4E91-B453-020D068AE8B9}" type="pres">
      <dgm:prSet presAssocID="{7F803E72-6AE5-4BBB-ABD6-9C7FA12A4F4B}" presName="compNode" presStyleCnt="0"/>
      <dgm:spPr/>
    </dgm:pt>
    <dgm:pt modelId="{95DB6ABA-6E41-4921-928F-1BCAB2545215}" type="pres">
      <dgm:prSet presAssocID="{7F803E72-6AE5-4BBB-ABD6-9C7FA12A4F4B}" presName="bgRect" presStyleLbl="bgShp" presStyleIdx="1" presStyleCnt="3"/>
      <dgm:spPr/>
    </dgm:pt>
    <dgm:pt modelId="{1A17A386-330A-477A-96BB-DF2365DEBAA8}" type="pres">
      <dgm:prSet presAssocID="{7F803E72-6AE5-4BBB-ABD6-9C7FA12A4F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C577CD6-14C2-4254-9B3E-DD0CE08975E4}" type="pres">
      <dgm:prSet presAssocID="{7F803E72-6AE5-4BBB-ABD6-9C7FA12A4F4B}" presName="spaceRect" presStyleCnt="0"/>
      <dgm:spPr/>
    </dgm:pt>
    <dgm:pt modelId="{2D1E951E-6D7D-45F2-A3E5-1065EC591FA8}" type="pres">
      <dgm:prSet presAssocID="{7F803E72-6AE5-4BBB-ABD6-9C7FA12A4F4B}" presName="parTx" presStyleLbl="revTx" presStyleIdx="1" presStyleCnt="3">
        <dgm:presLayoutVars>
          <dgm:chMax val="0"/>
          <dgm:chPref val="0"/>
        </dgm:presLayoutVars>
      </dgm:prSet>
      <dgm:spPr/>
    </dgm:pt>
    <dgm:pt modelId="{3DEA9F33-8CD5-4992-ABF5-FED14EC50793}" type="pres">
      <dgm:prSet presAssocID="{8BCB8987-18B8-464A-9C9E-CF668E178DDA}" presName="sibTrans" presStyleCnt="0"/>
      <dgm:spPr/>
    </dgm:pt>
    <dgm:pt modelId="{E27307C9-AAB5-4CAB-BC16-433771795D86}" type="pres">
      <dgm:prSet presAssocID="{58F0AD67-1900-410C-9140-575147B1BEC1}" presName="compNode" presStyleCnt="0"/>
      <dgm:spPr/>
    </dgm:pt>
    <dgm:pt modelId="{E2051F35-1610-446E-AF0A-3ABC63A0430C}" type="pres">
      <dgm:prSet presAssocID="{58F0AD67-1900-410C-9140-575147B1BEC1}" presName="bgRect" presStyleLbl="bgShp" presStyleIdx="2" presStyleCnt="3"/>
      <dgm:spPr/>
    </dgm:pt>
    <dgm:pt modelId="{BCF71330-4D43-43F9-86A4-AD5F12A0C1ED}" type="pres">
      <dgm:prSet presAssocID="{58F0AD67-1900-410C-9140-575147B1BE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731CB116-7D9C-47A7-B02C-A604D1E7BB65}" type="pres">
      <dgm:prSet presAssocID="{58F0AD67-1900-410C-9140-575147B1BEC1}" presName="spaceRect" presStyleCnt="0"/>
      <dgm:spPr/>
    </dgm:pt>
    <dgm:pt modelId="{C3531F7C-1AC0-49A1-8CD2-B2A126ADA8FD}" type="pres">
      <dgm:prSet presAssocID="{58F0AD67-1900-410C-9140-575147B1BEC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9BB9B28-9CBD-499B-A5FD-C64F2770AF53}" type="presOf" srcId="{7F803E72-6AE5-4BBB-ABD6-9C7FA12A4F4B}" destId="{2D1E951E-6D7D-45F2-A3E5-1065EC591FA8}" srcOrd="0" destOrd="0" presId="urn:microsoft.com/office/officeart/2018/2/layout/IconVerticalSolidList"/>
    <dgm:cxn modelId="{33FDED86-532F-4981-BA91-A684500E8010}" srcId="{4571B4CA-D50D-4EFA-8783-5420A2C4D529}" destId="{7F803E72-6AE5-4BBB-ABD6-9C7FA12A4F4B}" srcOrd="1" destOrd="0" parTransId="{3FB7DA75-ECBF-4B3C-93DE-B881E85EBC03}" sibTransId="{8BCB8987-18B8-464A-9C9E-CF668E178DDA}"/>
    <dgm:cxn modelId="{DF12B388-5D61-4F3F-9FA2-5A4B3612A99B}" type="presOf" srcId="{4571B4CA-D50D-4EFA-8783-5420A2C4D529}" destId="{8D54C959-5F60-46DB-B6A4-F89801080E02}" srcOrd="0" destOrd="0" presId="urn:microsoft.com/office/officeart/2018/2/layout/IconVerticalSolidList"/>
    <dgm:cxn modelId="{727E0D8F-127D-4105-BE01-8BEE9CCBFDC8}" type="presOf" srcId="{47EE7428-3B6C-4208-8FF7-03314606CA88}" destId="{7CAADD2A-D00C-4D3B-9743-608233DB7183}" srcOrd="0" destOrd="0" presId="urn:microsoft.com/office/officeart/2018/2/layout/IconVerticalSolidList"/>
    <dgm:cxn modelId="{336A1FA6-1E6F-4DE5-9075-BC4C9FB9C8F2}" srcId="{4571B4CA-D50D-4EFA-8783-5420A2C4D529}" destId="{58F0AD67-1900-410C-9140-575147B1BEC1}" srcOrd="2" destOrd="0" parTransId="{545002D5-7D01-471A-B265-3B4DCAC23039}" sibTransId="{AEB42048-3EE5-48E4-A9AD-F726F55D42F4}"/>
    <dgm:cxn modelId="{966F42B7-037F-46F8-A3E9-A2221046A5D8}" srcId="{4571B4CA-D50D-4EFA-8783-5420A2C4D529}" destId="{47EE7428-3B6C-4208-8FF7-03314606CA88}" srcOrd="0" destOrd="0" parTransId="{279FD47F-9D33-42C1-9D37-654B1671C029}" sibTransId="{5D59186B-113F-41FA-A350-2D2E0F598669}"/>
    <dgm:cxn modelId="{328A60C0-CEED-4A2C-AC83-D90B2AFCCD2B}" type="presOf" srcId="{58F0AD67-1900-410C-9140-575147B1BEC1}" destId="{C3531F7C-1AC0-49A1-8CD2-B2A126ADA8FD}" srcOrd="0" destOrd="0" presId="urn:microsoft.com/office/officeart/2018/2/layout/IconVerticalSolidList"/>
    <dgm:cxn modelId="{7D32A9D2-72D0-4F00-AF4B-C14D561907A3}" type="presParOf" srcId="{8D54C959-5F60-46DB-B6A4-F89801080E02}" destId="{C7D71BDF-594A-4003-958C-991C98BC6405}" srcOrd="0" destOrd="0" presId="urn:microsoft.com/office/officeart/2018/2/layout/IconVerticalSolidList"/>
    <dgm:cxn modelId="{55B01748-AD25-4AE5-B638-94D145CC1A0D}" type="presParOf" srcId="{C7D71BDF-594A-4003-958C-991C98BC6405}" destId="{3A494E38-3090-4A07-B160-5991F702FD76}" srcOrd="0" destOrd="0" presId="urn:microsoft.com/office/officeart/2018/2/layout/IconVerticalSolidList"/>
    <dgm:cxn modelId="{8ED9FC1D-EC39-44DF-BD3D-44D63C559074}" type="presParOf" srcId="{C7D71BDF-594A-4003-958C-991C98BC6405}" destId="{1CED9119-7A07-4005-A90F-AB538324AF75}" srcOrd="1" destOrd="0" presId="urn:microsoft.com/office/officeart/2018/2/layout/IconVerticalSolidList"/>
    <dgm:cxn modelId="{46D3CD6F-08B6-41C6-9929-DE87D00C96D2}" type="presParOf" srcId="{C7D71BDF-594A-4003-958C-991C98BC6405}" destId="{50E77C2A-EC25-4422-A1AF-EE0F72A839C9}" srcOrd="2" destOrd="0" presId="urn:microsoft.com/office/officeart/2018/2/layout/IconVerticalSolidList"/>
    <dgm:cxn modelId="{1132D263-1960-4F3C-8C3F-FC1CCFD73845}" type="presParOf" srcId="{C7D71BDF-594A-4003-958C-991C98BC6405}" destId="{7CAADD2A-D00C-4D3B-9743-608233DB7183}" srcOrd="3" destOrd="0" presId="urn:microsoft.com/office/officeart/2018/2/layout/IconVerticalSolidList"/>
    <dgm:cxn modelId="{956CD49F-A82C-4663-8E03-3C8730F4CECA}" type="presParOf" srcId="{8D54C959-5F60-46DB-B6A4-F89801080E02}" destId="{0D7B60EB-1A69-46C6-A9DB-D5E329D6447C}" srcOrd="1" destOrd="0" presId="urn:microsoft.com/office/officeart/2018/2/layout/IconVerticalSolidList"/>
    <dgm:cxn modelId="{0A62D864-4588-4578-BB0F-38B9B288C074}" type="presParOf" srcId="{8D54C959-5F60-46DB-B6A4-F89801080E02}" destId="{F5A5D09B-CC10-4E91-B453-020D068AE8B9}" srcOrd="2" destOrd="0" presId="urn:microsoft.com/office/officeart/2018/2/layout/IconVerticalSolidList"/>
    <dgm:cxn modelId="{3402F47E-A717-4252-A436-B02FA6EAED0D}" type="presParOf" srcId="{F5A5D09B-CC10-4E91-B453-020D068AE8B9}" destId="{95DB6ABA-6E41-4921-928F-1BCAB2545215}" srcOrd="0" destOrd="0" presId="urn:microsoft.com/office/officeart/2018/2/layout/IconVerticalSolidList"/>
    <dgm:cxn modelId="{0CB4854D-0D14-4F18-953A-8D8425F243A5}" type="presParOf" srcId="{F5A5D09B-CC10-4E91-B453-020D068AE8B9}" destId="{1A17A386-330A-477A-96BB-DF2365DEBAA8}" srcOrd="1" destOrd="0" presId="urn:microsoft.com/office/officeart/2018/2/layout/IconVerticalSolidList"/>
    <dgm:cxn modelId="{1C13BA12-CBA0-4346-B539-E25F617109FA}" type="presParOf" srcId="{F5A5D09B-CC10-4E91-B453-020D068AE8B9}" destId="{9C577CD6-14C2-4254-9B3E-DD0CE08975E4}" srcOrd="2" destOrd="0" presId="urn:microsoft.com/office/officeart/2018/2/layout/IconVerticalSolidList"/>
    <dgm:cxn modelId="{C53BDE49-9441-414D-A99C-047C9A201BCF}" type="presParOf" srcId="{F5A5D09B-CC10-4E91-B453-020D068AE8B9}" destId="{2D1E951E-6D7D-45F2-A3E5-1065EC591FA8}" srcOrd="3" destOrd="0" presId="urn:microsoft.com/office/officeart/2018/2/layout/IconVerticalSolidList"/>
    <dgm:cxn modelId="{4B5AC0E7-CD3E-4C89-AE6B-925E4F087A4F}" type="presParOf" srcId="{8D54C959-5F60-46DB-B6A4-F89801080E02}" destId="{3DEA9F33-8CD5-4992-ABF5-FED14EC50793}" srcOrd="3" destOrd="0" presId="urn:microsoft.com/office/officeart/2018/2/layout/IconVerticalSolidList"/>
    <dgm:cxn modelId="{9AD66FF4-42F3-4B02-87DD-73EDDA0993C6}" type="presParOf" srcId="{8D54C959-5F60-46DB-B6A4-F89801080E02}" destId="{E27307C9-AAB5-4CAB-BC16-433771795D86}" srcOrd="4" destOrd="0" presId="urn:microsoft.com/office/officeart/2018/2/layout/IconVerticalSolidList"/>
    <dgm:cxn modelId="{E37C8C05-FA6E-4E75-B05A-A23CF62046D3}" type="presParOf" srcId="{E27307C9-AAB5-4CAB-BC16-433771795D86}" destId="{E2051F35-1610-446E-AF0A-3ABC63A0430C}" srcOrd="0" destOrd="0" presId="urn:microsoft.com/office/officeart/2018/2/layout/IconVerticalSolidList"/>
    <dgm:cxn modelId="{88250B2C-E8B4-4B76-8F18-9DA2DE973974}" type="presParOf" srcId="{E27307C9-AAB5-4CAB-BC16-433771795D86}" destId="{BCF71330-4D43-43F9-86A4-AD5F12A0C1ED}" srcOrd="1" destOrd="0" presId="urn:microsoft.com/office/officeart/2018/2/layout/IconVerticalSolidList"/>
    <dgm:cxn modelId="{083FC5B1-8910-4CDE-886A-75FE6EC892F1}" type="presParOf" srcId="{E27307C9-AAB5-4CAB-BC16-433771795D86}" destId="{731CB116-7D9C-47A7-B02C-A604D1E7BB65}" srcOrd="2" destOrd="0" presId="urn:microsoft.com/office/officeart/2018/2/layout/IconVerticalSolidList"/>
    <dgm:cxn modelId="{C9BFD1BE-F665-4E7D-9454-9D5871AEE8BA}" type="presParOf" srcId="{E27307C9-AAB5-4CAB-BC16-433771795D86}" destId="{C3531F7C-1AC0-49A1-8CD2-B2A126ADA8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9769A5-1030-40D4-A222-CE056ED289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4F80EF-2170-4EE8-B924-53AA1B979F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• Tableau Data Source (.tdsx) created following Tableau data source best practices to support self-service reporting.</a:t>
          </a:r>
          <a:endParaRPr lang="en-US"/>
        </a:p>
      </dgm:t>
    </dgm:pt>
    <dgm:pt modelId="{D0E96428-5EB6-44AC-9DB4-E6973196AB2E}" type="parTrans" cxnId="{A5923BE4-987A-4D0F-821A-213ABAC396F7}">
      <dgm:prSet/>
      <dgm:spPr/>
      <dgm:t>
        <a:bodyPr/>
        <a:lstStyle/>
        <a:p>
          <a:endParaRPr lang="en-US"/>
        </a:p>
      </dgm:t>
    </dgm:pt>
    <dgm:pt modelId="{5EECAEAE-DE46-401D-BD89-44FF1678CD63}" type="sibTrans" cxnId="{A5923BE4-987A-4D0F-821A-213ABAC396F7}">
      <dgm:prSet/>
      <dgm:spPr/>
      <dgm:t>
        <a:bodyPr/>
        <a:lstStyle/>
        <a:p>
          <a:endParaRPr lang="en-US"/>
        </a:p>
      </dgm:t>
    </dgm:pt>
    <dgm:pt modelId="{B86F65A6-0175-4240-A6F8-F22FC4D5A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• In a production environment, the preferred approach would be to use a database view or materialized view as the Tableau connection.</a:t>
          </a:r>
          <a:endParaRPr lang="en-US"/>
        </a:p>
      </dgm:t>
    </dgm:pt>
    <dgm:pt modelId="{41A6750C-03C7-4352-9D28-25732ACE7DEE}" type="parTrans" cxnId="{1B44AAA8-3264-488B-B1AF-CC92509AF09C}">
      <dgm:prSet/>
      <dgm:spPr/>
      <dgm:t>
        <a:bodyPr/>
        <a:lstStyle/>
        <a:p>
          <a:endParaRPr lang="en-US"/>
        </a:p>
      </dgm:t>
    </dgm:pt>
    <dgm:pt modelId="{44641149-9158-4518-A4FD-8FDDD8925B81}" type="sibTrans" cxnId="{1B44AAA8-3264-488B-B1AF-CC92509AF09C}">
      <dgm:prSet/>
      <dgm:spPr/>
      <dgm:t>
        <a:bodyPr/>
        <a:lstStyle/>
        <a:p>
          <a:endParaRPr lang="en-US"/>
        </a:p>
      </dgm:t>
    </dgm:pt>
    <dgm:pt modelId="{3E909791-0298-4740-A281-EC515A3748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• For this proof of concept, the data source was created using an Excel extract generated via data transformations performed in Python.</a:t>
          </a:r>
          <a:endParaRPr lang="en-US"/>
        </a:p>
      </dgm:t>
    </dgm:pt>
    <dgm:pt modelId="{B5189778-9CEE-421D-8DBC-00785EE7E7A9}" type="parTrans" cxnId="{C3FFC0AA-B47A-42AB-B313-B3AE74FE1D66}">
      <dgm:prSet/>
      <dgm:spPr/>
      <dgm:t>
        <a:bodyPr/>
        <a:lstStyle/>
        <a:p>
          <a:endParaRPr lang="en-US"/>
        </a:p>
      </dgm:t>
    </dgm:pt>
    <dgm:pt modelId="{F28AF4F7-F41B-4B3D-A008-AFF37ABDDD59}" type="sibTrans" cxnId="{C3FFC0AA-B47A-42AB-B313-B3AE74FE1D66}">
      <dgm:prSet/>
      <dgm:spPr/>
      <dgm:t>
        <a:bodyPr/>
        <a:lstStyle/>
        <a:p>
          <a:endParaRPr lang="en-US"/>
        </a:p>
      </dgm:t>
    </dgm:pt>
    <dgm:pt modelId="{7E598973-3AE4-4399-81AB-A22403C594AF}" type="pres">
      <dgm:prSet presAssocID="{659769A5-1030-40D4-A222-CE056ED2893E}" presName="root" presStyleCnt="0">
        <dgm:presLayoutVars>
          <dgm:dir/>
          <dgm:resizeHandles val="exact"/>
        </dgm:presLayoutVars>
      </dgm:prSet>
      <dgm:spPr/>
    </dgm:pt>
    <dgm:pt modelId="{4E95979D-53AA-48E1-9724-E038CDF14529}" type="pres">
      <dgm:prSet presAssocID="{5A4F80EF-2170-4EE8-B924-53AA1B979FD1}" presName="compNode" presStyleCnt="0"/>
      <dgm:spPr/>
    </dgm:pt>
    <dgm:pt modelId="{7D5E41B6-4E2D-43AF-A13D-BD0CD9903937}" type="pres">
      <dgm:prSet presAssocID="{5A4F80EF-2170-4EE8-B924-53AA1B979FD1}" presName="bgRect" presStyleLbl="bgShp" presStyleIdx="0" presStyleCnt="3"/>
      <dgm:spPr/>
    </dgm:pt>
    <dgm:pt modelId="{14B96F8B-A821-44DD-B15F-0977B5AD5AE0}" type="pres">
      <dgm:prSet presAssocID="{5A4F80EF-2170-4EE8-B924-53AA1B979F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4179503-474B-4295-9E91-A1FA86B6B7C2}" type="pres">
      <dgm:prSet presAssocID="{5A4F80EF-2170-4EE8-B924-53AA1B979FD1}" presName="spaceRect" presStyleCnt="0"/>
      <dgm:spPr/>
    </dgm:pt>
    <dgm:pt modelId="{E9F8C096-A2C0-42D5-974C-4A1860AB737E}" type="pres">
      <dgm:prSet presAssocID="{5A4F80EF-2170-4EE8-B924-53AA1B979FD1}" presName="parTx" presStyleLbl="revTx" presStyleIdx="0" presStyleCnt="3">
        <dgm:presLayoutVars>
          <dgm:chMax val="0"/>
          <dgm:chPref val="0"/>
        </dgm:presLayoutVars>
      </dgm:prSet>
      <dgm:spPr/>
    </dgm:pt>
    <dgm:pt modelId="{D6568856-9320-45BE-BB56-6EC0B71E6343}" type="pres">
      <dgm:prSet presAssocID="{5EECAEAE-DE46-401D-BD89-44FF1678CD63}" presName="sibTrans" presStyleCnt="0"/>
      <dgm:spPr/>
    </dgm:pt>
    <dgm:pt modelId="{6A90C9FF-9A61-4E42-BD26-1F5133CDAE84}" type="pres">
      <dgm:prSet presAssocID="{B86F65A6-0175-4240-A6F8-F22FC4D5A3A3}" presName="compNode" presStyleCnt="0"/>
      <dgm:spPr/>
    </dgm:pt>
    <dgm:pt modelId="{31524550-FEC5-4C53-AAE4-2441B4B46E1E}" type="pres">
      <dgm:prSet presAssocID="{B86F65A6-0175-4240-A6F8-F22FC4D5A3A3}" presName="bgRect" presStyleLbl="bgShp" presStyleIdx="1" presStyleCnt="3"/>
      <dgm:spPr/>
    </dgm:pt>
    <dgm:pt modelId="{3FC3FDA2-717B-4C90-87A8-30B36F747464}" type="pres">
      <dgm:prSet presAssocID="{B86F65A6-0175-4240-A6F8-F22FC4D5A3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3D81CD0-205F-4FD0-8EA1-6E3E3665FEA8}" type="pres">
      <dgm:prSet presAssocID="{B86F65A6-0175-4240-A6F8-F22FC4D5A3A3}" presName="spaceRect" presStyleCnt="0"/>
      <dgm:spPr/>
    </dgm:pt>
    <dgm:pt modelId="{6A606694-3AE7-449C-951F-C30E74760F2D}" type="pres">
      <dgm:prSet presAssocID="{B86F65A6-0175-4240-A6F8-F22FC4D5A3A3}" presName="parTx" presStyleLbl="revTx" presStyleIdx="1" presStyleCnt="3">
        <dgm:presLayoutVars>
          <dgm:chMax val="0"/>
          <dgm:chPref val="0"/>
        </dgm:presLayoutVars>
      </dgm:prSet>
      <dgm:spPr/>
    </dgm:pt>
    <dgm:pt modelId="{F1FD2855-176E-480D-A2C8-1DC997F58C4B}" type="pres">
      <dgm:prSet presAssocID="{44641149-9158-4518-A4FD-8FDDD8925B81}" presName="sibTrans" presStyleCnt="0"/>
      <dgm:spPr/>
    </dgm:pt>
    <dgm:pt modelId="{43954321-5AAD-401B-8DF6-D383411BEEE2}" type="pres">
      <dgm:prSet presAssocID="{3E909791-0298-4740-A281-EC515A3748B7}" presName="compNode" presStyleCnt="0"/>
      <dgm:spPr/>
    </dgm:pt>
    <dgm:pt modelId="{7FB03809-91FC-4477-871A-5DB024DDA94F}" type="pres">
      <dgm:prSet presAssocID="{3E909791-0298-4740-A281-EC515A3748B7}" presName="bgRect" presStyleLbl="bgShp" presStyleIdx="2" presStyleCnt="3"/>
      <dgm:spPr/>
    </dgm:pt>
    <dgm:pt modelId="{193B2462-41DB-4FDC-A4A6-EACD556D8D4E}" type="pres">
      <dgm:prSet presAssocID="{3E909791-0298-4740-A281-EC515A3748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41E42BD-416D-4CE8-BB00-F9BEFEA8C05E}" type="pres">
      <dgm:prSet presAssocID="{3E909791-0298-4740-A281-EC515A3748B7}" presName="spaceRect" presStyleCnt="0"/>
      <dgm:spPr/>
    </dgm:pt>
    <dgm:pt modelId="{F8BA702B-237B-45D7-9852-A53C657D55E8}" type="pres">
      <dgm:prSet presAssocID="{3E909791-0298-4740-A281-EC515A3748B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651A600-0531-42FE-A43A-4FB0144DC0CC}" type="presOf" srcId="{659769A5-1030-40D4-A222-CE056ED2893E}" destId="{7E598973-3AE4-4399-81AB-A22403C594AF}" srcOrd="0" destOrd="0" presId="urn:microsoft.com/office/officeart/2018/2/layout/IconVerticalSolidList"/>
    <dgm:cxn modelId="{383F1343-DFAC-48BC-A112-611664B9AAF4}" type="presOf" srcId="{3E909791-0298-4740-A281-EC515A3748B7}" destId="{F8BA702B-237B-45D7-9852-A53C657D55E8}" srcOrd="0" destOrd="0" presId="urn:microsoft.com/office/officeart/2018/2/layout/IconVerticalSolidList"/>
    <dgm:cxn modelId="{20DCA16F-4F4F-4690-BBDA-5958F111E6AA}" type="presOf" srcId="{5A4F80EF-2170-4EE8-B924-53AA1B979FD1}" destId="{E9F8C096-A2C0-42D5-974C-4A1860AB737E}" srcOrd="0" destOrd="0" presId="urn:microsoft.com/office/officeart/2018/2/layout/IconVerticalSolidList"/>
    <dgm:cxn modelId="{1B44AAA8-3264-488B-B1AF-CC92509AF09C}" srcId="{659769A5-1030-40D4-A222-CE056ED2893E}" destId="{B86F65A6-0175-4240-A6F8-F22FC4D5A3A3}" srcOrd="1" destOrd="0" parTransId="{41A6750C-03C7-4352-9D28-25732ACE7DEE}" sibTransId="{44641149-9158-4518-A4FD-8FDDD8925B81}"/>
    <dgm:cxn modelId="{C3FFC0AA-B47A-42AB-B313-B3AE74FE1D66}" srcId="{659769A5-1030-40D4-A222-CE056ED2893E}" destId="{3E909791-0298-4740-A281-EC515A3748B7}" srcOrd="2" destOrd="0" parTransId="{B5189778-9CEE-421D-8DBC-00785EE7E7A9}" sibTransId="{F28AF4F7-F41B-4B3D-A008-AFF37ABDDD59}"/>
    <dgm:cxn modelId="{811900DD-33C8-4A44-AC5F-7D87E92D07ED}" type="presOf" srcId="{B86F65A6-0175-4240-A6F8-F22FC4D5A3A3}" destId="{6A606694-3AE7-449C-951F-C30E74760F2D}" srcOrd="0" destOrd="0" presId="urn:microsoft.com/office/officeart/2018/2/layout/IconVerticalSolidList"/>
    <dgm:cxn modelId="{A5923BE4-987A-4D0F-821A-213ABAC396F7}" srcId="{659769A5-1030-40D4-A222-CE056ED2893E}" destId="{5A4F80EF-2170-4EE8-B924-53AA1B979FD1}" srcOrd="0" destOrd="0" parTransId="{D0E96428-5EB6-44AC-9DB4-E6973196AB2E}" sibTransId="{5EECAEAE-DE46-401D-BD89-44FF1678CD63}"/>
    <dgm:cxn modelId="{C9938A95-FA21-4B86-9D49-26902F3225EB}" type="presParOf" srcId="{7E598973-3AE4-4399-81AB-A22403C594AF}" destId="{4E95979D-53AA-48E1-9724-E038CDF14529}" srcOrd="0" destOrd="0" presId="urn:microsoft.com/office/officeart/2018/2/layout/IconVerticalSolidList"/>
    <dgm:cxn modelId="{9F658390-510A-410B-B880-5BE90FAB51DF}" type="presParOf" srcId="{4E95979D-53AA-48E1-9724-E038CDF14529}" destId="{7D5E41B6-4E2D-43AF-A13D-BD0CD9903937}" srcOrd="0" destOrd="0" presId="urn:microsoft.com/office/officeart/2018/2/layout/IconVerticalSolidList"/>
    <dgm:cxn modelId="{F83728D5-DCF0-4CCA-9626-7AE2AE2D29F2}" type="presParOf" srcId="{4E95979D-53AA-48E1-9724-E038CDF14529}" destId="{14B96F8B-A821-44DD-B15F-0977B5AD5AE0}" srcOrd="1" destOrd="0" presId="urn:microsoft.com/office/officeart/2018/2/layout/IconVerticalSolidList"/>
    <dgm:cxn modelId="{15F50135-4344-4044-9573-AA1DF7A3D20F}" type="presParOf" srcId="{4E95979D-53AA-48E1-9724-E038CDF14529}" destId="{A4179503-474B-4295-9E91-A1FA86B6B7C2}" srcOrd="2" destOrd="0" presId="urn:microsoft.com/office/officeart/2018/2/layout/IconVerticalSolidList"/>
    <dgm:cxn modelId="{89A75BA6-2A33-42A9-AC82-B487BF40639F}" type="presParOf" srcId="{4E95979D-53AA-48E1-9724-E038CDF14529}" destId="{E9F8C096-A2C0-42D5-974C-4A1860AB737E}" srcOrd="3" destOrd="0" presId="urn:microsoft.com/office/officeart/2018/2/layout/IconVerticalSolidList"/>
    <dgm:cxn modelId="{EF3AAEDA-6F0C-40DA-B76C-125ABA484169}" type="presParOf" srcId="{7E598973-3AE4-4399-81AB-A22403C594AF}" destId="{D6568856-9320-45BE-BB56-6EC0B71E6343}" srcOrd="1" destOrd="0" presId="urn:microsoft.com/office/officeart/2018/2/layout/IconVerticalSolidList"/>
    <dgm:cxn modelId="{2470E5EB-56C1-4A24-8A0B-2ECA1464FC5D}" type="presParOf" srcId="{7E598973-3AE4-4399-81AB-A22403C594AF}" destId="{6A90C9FF-9A61-4E42-BD26-1F5133CDAE84}" srcOrd="2" destOrd="0" presId="urn:microsoft.com/office/officeart/2018/2/layout/IconVerticalSolidList"/>
    <dgm:cxn modelId="{F196B0EA-784E-4693-8162-C66F2C54BDCC}" type="presParOf" srcId="{6A90C9FF-9A61-4E42-BD26-1F5133CDAE84}" destId="{31524550-FEC5-4C53-AAE4-2441B4B46E1E}" srcOrd="0" destOrd="0" presId="urn:microsoft.com/office/officeart/2018/2/layout/IconVerticalSolidList"/>
    <dgm:cxn modelId="{EC9DAEF0-A9A9-47F0-AB79-5E2FBD7EDF8C}" type="presParOf" srcId="{6A90C9FF-9A61-4E42-BD26-1F5133CDAE84}" destId="{3FC3FDA2-717B-4C90-87A8-30B36F747464}" srcOrd="1" destOrd="0" presId="urn:microsoft.com/office/officeart/2018/2/layout/IconVerticalSolidList"/>
    <dgm:cxn modelId="{5DC32C5E-DE60-4F31-BA84-5E10E8B0EF18}" type="presParOf" srcId="{6A90C9FF-9A61-4E42-BD26-1F5133CDAE84}" destId="{53D81CD0-205F-4FD0-8EA1-6E3E3665FEA8}" srcOrd="2" destOrd="0" presId="urn:microsoft.com/office/officeart/2018/2/layout/IconVerticalSolidList"/>
    <dgm:cxn modelId="{010971F6-2654-42EE-BEB6-949B484DBC2F}" type="presParOf" srcId="{6A90C9FF-9A61-4E42-BD26-1F5133CDAE84}" destId="{6A606694-3AE7-449C-951F-C30E74760F2D}" srcOrd="3" destOrd="0" presId="urn:microsoft.com/office/officeart/2018/2/layout/IconVerticalSolidList"/>
    <dgm:cxn modelId="{0F6CB107-69B8-42B4-BB37-03F3BF81DCED}" type="presParOf" srcId="{7E598973-3AE4-4399-81AB-A22403C594AF}" destId="{F1FD2855-176E-480D-A2C8-1DC997F58C4B}" srcOrd="3" destOrd="0" presId="urn:microsoft.com/office/officeart/2018/2/layout/IconVerticalSolidList"/>
    <dgm:cxn modelId="{557F87A9-6896-42E3-93D9-77EBC77B38A6}" type="presParOf" srcId="{7E598973-3AE4-4399-81AB-A22403C594AF}" destId="{43954321-5AAD-401B-8DF6-D383411BEEE2}" srcOrd="4" destOrd="0" presId="urn:microsoft.com/office/officeart/2018/2/layout/IconVerticalSolidList"/>
    <dgm:cxn modelId="{7DFA456A-24CA-445E-BB2D-638098FF7D41}" type="presParOf" srcId="{43954321-5AAD-401B-8DF6-D383411BEEE2}" destId="{7FB03809-91FC-4477-871A-5DB024DDA94F}" srcOrd="0" destOrd="0" presId="urn:microsoft.com/office/officeart/2018/2/layout/IconVerticalSolidList"/>
    <dgm:cxn modelId="{C841CBAE-C832-4644-8C29-6FEDB5B52CBD}" type="presParOf" srcId="{43954321-5AAD-401B-8DF6-D383411BEEE2}" destId="{193B2462-41DB-4FDC-A4A6-EACD556D8D4E}" srcOrd="1" destOrd="0" presId="urn:microsoft.com/office/officeart/2018/2/layout/IconVerticalSolidList"/>
    <dgm:cxn modelId="{3B313C0D-96B2-4983-B2D9-565404F43AC4}" type="presParOf" srcId="{43954321-5AAD-401B-8DF6-D383411BEEE2}" destId="{041E42BD-416D-4CE8-BB00-F9BEFEA8C05E}" srcOrd="2" destOrd="0" presId="urn:microsoft.com/office/officeart/2018/2/layout/IconVerticalSolidList"/>
    <dgm:cxn modelId="{0202D66B-B19D-4149-95F2-D6784DB44CAF}" type="presParOf" srcId="{43954321-5AAD-401B-8DF6-D383411BEEE2}" destId="{F8BA702B-237B-45D7-9852-A53C657D55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9769A5-1030-40D4-A222-CE056ED289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4F80EF-2170-4EE8-B924-53AA1B979F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Tableau Retail Dashboard (.</a:t>
          </a:r>
          <a:r>
            <a:rPr lang="en-US" b="1" dirty="0" err="1"/>
            <a:t>twbx</a:t>
          </a:r>
          <a:r>
            <a:rPr lang="en-US" b="1" dirty="0"/>
            <a:t>) created using published Tableau data source created in Task 1.</a:t>
          </a:r>
          <a:endParaRPr lang="en-US" dirty="0"/>
        </a:p>
      </dgm:t>
    </dgm:pt>
    <dgm:pt modelId="{D0E96428-5EB6-44AC-9DB4-E6973196AB2E}" type="parTrans" cxnId="{A5923BE4-987A-4D0F-821A-213ABAC396F7}">
      <dgm:prSet/>
      <dgm:spPr/>
      <dgm:t>
        <a:bodyPr/>
        <a:lstStyle/>
        <a:p>
          <a:endParaRPr lang="en-US"/>
        </a:p>
      </dgm:t>
    </dgm:pt>
    <dgm:pt modelId="{5EECAEAE-DE46-401D-BD89-44FF1678CD63}" type="sibTrans" cxnId="{A5923BE4-987A-4D0F-821A-213ABAC396F7}">
      <dgm:prSet/>
      <dgm:spPr/>
      <dgm:t>
        <a:bodyPr/>
        <a:lstStyle/>
        <a:p>
          <a:endParaRPr lang="en-US"/>
        </a:p>
      </dgm:t>
    </dgm:pt>
    <dgm:pt modelId="{B86F65A6-0175-4240-A6F8-F22FC4D5A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Dashboard connected to published data source is easy to maintain and refresh. A change in data source updates all connected dashboards automatically!</a:t>
          </a:r>
          <a:endParaRPr lang="en-US" dirty="0"/>
        </a:p>
      </dgm:t>
    </dgm:pt>
    <dgm:pt modelId="{41A6750C-03C7-4352-9D28-25732ACE7DEE}" type="parTrans" cxnId="{1B44AAA8-3264-488B-B1AF-CC92509AF09C}">
      <dgm:prSet/>
      <dgm:spPr/>
      <dgm:t>
        <a:bodyPr/>
        <a:lstStyle/>
        <a:p>
          <a:endParaRPr lang="en-US"/>
        </a:p>
      </dgm:t>
    </dgm:pt>
    <dgm:pt modelId="{44641149-9158-4518-A4FD-8FDDD8925B81}" type="sibTrans" cxnId="{1B44AAA8-3264-488B-B1AF-CC92509AF09C}">
      <dgm:prSet/>
      <dgm:spPr/>
      <dgm:t>
        <a:bodyPr/>
        <a:lstStyle/>
        <a:p>
          <a:endParaRPr lang="en-US"/>
        </a:p>
      </dgm:t>
    </dgm:pt>
    <dgm:pt modelId="{3E909791-0298-4740-A281-EC515A3748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Interactivity is inbuilt in dashboard in forms of filters and sliders that provide “What if Analysis”. A filter for returns helps separating returned and non returned order for a more targeted analysis!</a:t>
          </a:r>
          <a:endParaRPr lang="en-US" dirty="0"/>
        </a:p>
      </dgm:t>
    </dgm:pt>
    <dgm:pt modelId="{B5189778-9CEE-421D-8DBC-00785EE7E7A9}" type="parTrans" cxnId="{C3FFC0AA-B47A-42AB-B313-B3AE74FE1D66}">
      <dgm:prSet/>
      <dgm:spPr/>
      <dgm:t>
        <a:bodyPr/>
        <a:lstStyle/>
        <a:p>
          <a:endParaRPr lang="en-US"/>
        </a:p>
      </dgm:t>
    </dgm:pt>
    <dgm:pt modelId="{F28AF4F7-F41B-4B3D-A008-AFF37ABDDD59}" type="sibTrans" cxnId="{C3FFC0AA-B47A-42AB-B313-B3AE74FE1D66}">
      <dgm:prSet/>
      <dgm:spPr/>
      <dgm:t>
        <a:bodyPr/>
        <a:lstStyle/>
        <a:p>
          <a:endParaRPr lang="en-US"/>
        </a:p>
      </dgm:t>
    </dgm:pt>
    <dgm:pt modelId="{7E598973-3AE4-4399-81AB-A22403C594AF}" type="pres">
      <dgm:prSet presAssocID="{659769A5-1030-40D4-A222-CE056ED2893E}" presName="root" presStyleCnt="0">
        <dgm:presLayoutVars>
          <dgm:dir/>
          <dgm:resizeHandles val="exact"/>
        </dgm:presLayoutVars>
      </dgm:prSet>
      <dgm:spPr/>
    </dgm:pt>
    <dgm:pt modelId="{4E95979D-53AA-48E1-9724-E038CDF14529}" type="pres">
      <dgm:prSet presAssocID="{5A4F80EF-2170-4EE8-B924-53AA1B979FD1}" presName="compNode" presStyleCnt="0"/>
      <dgm:spPr/>
    </dgm:pt>
    <dgm:pt modelId="{7D5E41B6-4E2D-43AF-A13D-BD0CD9903937}" type="pres">
      <dgm:prSet presAssocID="{5A4F80EF-2170-4EE8-B924-53AA1B979FD1}" presName="bgRect" presStyleLbl="bgShp" presStyleIdx="0" presStyleCnt="3"/>
      <dgm:spPr/>
    </dgm:pt>
    <dgm:pt modelId="{14B96F8B-A821-44DD-B15F-0977B5AD5AE0}" type="pres">
      <dgm:prSet presAssocID="{5A4F80EF-2170-4EE8-B924-53AA1B979F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4179503-474B-4295-9E91-A1FA86B6B7C2}" type="pres">
      <dgm:prSet presAssocID="{5A4F80EF-2170-4EE8-B924-53AA1B979FD1}" presName="spaceRect" presStyleCnt="0"/>
      <dgm:spPr/>
    </dgm:pt>
    <dgm:pt modelId="{E9F8C096-A2C0-42D5-974C-4A1860AB737E}" type="pres">
      <dgm:prSet presAssocID="{5A4F80EF-2170-4EE8-B924-53AA1B979FD1}" presName="parTx" presStyleLbl="revTx" presStyleIdx="0" presStyleCnt="3">
        <dgm:presLayoutVars>
          <dgm:chMax val="0"/>
          <dgm:chPref val="0"/>
        </dgm:presLayoutVars>
      </dgm:prSet>
      <dgm:spPr/>
    </dgm:pt>
    <dgm:pt modelId="{D6568856-9320-45BE-BB56-6EC0B71E6343}" type="pres">
      <dgm:prSet presAssocID="{5EECAEAE-DE46-401D-BD89-44FF1678CD63}" presName="sibTrans" presStyleCnt="0"/>
      <dgm:spPr/>
    </dgm:pt>
    <dgm:pt modelId="{6A90C9FF-9A61-4E42-BD26-1F5133CDAE84}" type="pres">
      <dgm:prSet presAssocID="{B86F65A6-0175-4240-A6F8-F22FC4D5A3A3}" presName="compNode" presStyleCnt="0"/>
      <dgm:spPr/>
    </dgm:pt>
    <dgm:pt modelId="{31524550-FEC5-4C53-AAE4-2441B4B46E1E}" type="pres">
      <dgm:prSet presAssocID="{B86F65A6-0175-4240-A6F8-F22FC4D5A3A3}" presName="bgRect" presStyleLbl="bgShp" presStyleIdx="1" presStyleCnt="3"/>
      <dgm:spPr/>
    </dgm:pt>
    <dgm:pt modelId="{3FC3FDA2-717B-4C90-87A8-30B36F747464}" type="pres">
      <dgm:prSet presAssocID="{B86F65A6-0175-4240-A6F8-F22FC4D5A3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3D81CD0-205F-4FD0-8EA1-6E3E3665FEA8}" type="pres">
      <dgm:prSet presAssocID="{B86F65A6-0175-4240-A6F8-F22FC4D5A3A3}" presName="spaceRect" presStyleCnt="0"/>
      <dgm:spPr/>
    </dgm:pt>
    <dgm:pt modelId="{6A606694-3AE7-449C-951F-C30E74760F2D}" type="pres">
      <dgm:prSet presAssocID="{B86F65A6-0175-4240-A6F8-F22FC4D5A3A3}" presName="parTx" presStyleLbl="revTx" presStyleIdx="1" presStyleCnt="3">
        <dgm:presLayoutVars>
          <dgm:chMax val="0"/>
          <dgm:chPref val="0"/>
        </dgm:presLayoutVars>
      </dgm:prSet>
      <dgm:spPr/>
    </dgm:pt>
    <dgm:pt modelId="{F1FD2855-176E-480D-A2C8-1DC997F58C4B}" type="pres">
      <dgm:prSet presAssocID="{44641149-9158-4518-A4FD-8FDDD8925B81}" presName="sibTrans" presStyleCnt="0"/>
      <dgm:spPr/>
    </dgm:pt>
    <dgm:pt modelId="{43954321-5AAD-401B-8DF6-D383411BEEE2}" type="pres">
      <dgm:prSet presAssocID="{3E909791-0298-4740-A281-EC515A3748B7}" presName="compNode" presStyleCnt="0"/>
      <dgm:spPr/>
    </dgm:pt>
    <dgm:pt modelId="{7FB03809-91FC-4477-871A-5DB024DDA94F}" type="pres">
      <dgm:prSet presAssocID="{3E909791-0298-4740-A281-EC515A3748B7}" presName="bgRect" presStyleLbl="bgShp" presStyleIdx="2" presStyleCnt="3"/>
      <dgm:spPr/>
    </dgm:pt>
    <dgm:pt modelId="{193B2462-41DB-4FDC-A4A6-EACD556D8D4E}" type="pres">
      <dgm:prSet presAssocID="{3E909791-0298-4740-A281-EC515A3748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41E42BD-416D-4CE8-BB00-F9BEFEA8C05E}" type="pres">
      <dgm:prSet presAssocID="{3E909791-0298-4740-A281-EC515A3748B7}" presName="spaceRect" presStyleCnt="0"/>
      <dgm:spPr/>
    </dgm:pt>
    <dgm:pt modelId="{F8BA702B-237B-45D7-9852-A53C657D55E8}" type="pres">
      <dgm:prSet presAssocID="{3E909791-0298-4740-A281-EC515A3748B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651A600-0531-42FE-A43A-4FB0144DC0CC}" type="presOf" srcId="{659769A5-1030-40D4-A222-CE056ED2893E}" destId="{7E598973-3AE4-4399-81AB-A22403C594AF}" srcOrd="0" destOrd="0" presId="urn:microsoft.com/office/officeart/2018/2/layout/IconVerticalSolidList"/>
    <dgm:cxn modelId="{383F1343-DFAC-48BC-A112-611664B9AAF4}" type="presOf" srcId="{3E909791-0298-4740-A281-EC515A3748B7}" destId="{F8BA702B-237B-45D7-9852-A53C657D55E8}" srcOrd="0" destOrd="0" presId="urn:microsoft.com/office/officeart/2018/2/layout/IconVerticalSolidList"/>
    <dgm:cxn modelId="{20DCA16F-4F4F-4690-BBDA-5958F111E6AA}" type="presOf" srcId="{5A4F80EF-2170-4EE8-B924-53AA1B979FD1}" destId="{E9F8C096-A2C0-42D5-974C-4A1860AB737E}" srcOrd="0" destOrd="0" presId="urn:microsoft.com/office/officeart/2018/2/layout/IconVerticalSolidList"/>
    <dgm:cxn modelId="{1B44AAA8-3264-488B-B1AF-CC92509AF09C}" srcId="{659769A5-1030-40D4-A222-CE056ED2893E}" destId="{B86F65A6-0175-4240-A6F8-F22FC4D5A3A3}" srcOrd="1" destOrd="0" parTransId="{41A6750C-03C7-4352-9D28-25732ACE7DEE}" sibTransId="{44641149-9158-4518-A4FD-8FDDD8925B81}"/>
    <dgm:cxn modelId="{C3FFC0AA-B47A-42AB-B313-B3AE74FE1D66}" srcId="{659769A5-1030-40D4-A222-CE056ED2893E}" destId="{3E909791-0298-4740-A281-EC515A3748B7}" srcOrd="2" destOrd="0" parTransId="{B5189778-9CEE-421D-8DBC-00785EE7E7A9}" sibTransId="{F28AF4F7-F41B-4B3D-A008-AFF37ABDDD59}"/>
    <dgm:cxn modelId="{811900DD-33C8-4A44-AC5F-7D87E92D07ED}" type="presOf" srcId="{B86F65A6-0175-4240-A6F8-F22FC4D5A3A3}" destId="{6A606694-3AE7-449C-951F-C30E74760F2D}" srcOrd="0" destOrd="0" presId="urn:microsoft.com/office/officeart/2018/2/layout/IconVerticalSolidList"/>
    <dgm:cxn modelId="{A5923BE4-987A-4D0F-821A-213ABAC396F7}" srcId="{659769A5-1030-40D4-A222-CE056ED2893E}" destId="{5A4F80EF-2170-4EE8-B924-53AA1B979FD1}" srcOrd="0" destOrd="0" parTransId="{D0E96428-5EB6-44AC-9DB4-E6973196AB2E}" sibTransId="{5EECAEAE-DE46-401D-BD89-44FF1678CD63}"/>
    <dgm:cxn modelId="{C9938A95-FA21-4B86-9D49-26902F3225EB}" type="presParOf" srcId="{7E598973-3AE4-4399-81AB-A22403C594AF}" destId="{4E95979D-53AA-48E1-9724-E038CDF14529}" srcOrd="0" destOrd="0" presId="urn:microsoft.com/office/officeart/2018/2/layout/IconVerticalSolidList"/>
    <dgm:cxn modelId="{9F658390-510A-410B-B880-5BE90FAB51DF}" type="presParOf" srcId="{4E95979D-53AA-48E1-9724-E038CDF14529}" destId="{7D5E41B6-4E2D-43AF-A13D-BD0CD9903937}" srcOrd="0" destOrd="0" presId="urn:microsoft.com/office/officeart/2018/2/layout/IconVerticalSolidList"/>
    <dgm:cxn modelId="{F83728D5-DCF0-4CCA-9626-7AE2AE2D29F2}" type="presParOf" srcId="{4E95979D-53AA-48E1-9724-E038CDF14529}" destId="{14B96F8B-A821-44DD-B15F-0977B5AD5AE0}" srcOrd="1" destOrd="0" presId="urn:microsoft.com/office/officeart/2018/2/layout/IconVerticalSolidList"/>
    <dgm:cxn modelId="{15F50135-4344-4044-9573-AA1DF7A3D20F}" type="presParOf" srcId="{4E95979D-53AA-48E1-9724-E038CDF14529}" destId="{A4179503-474B-4295-9E91-A1FA86B6B7C2}" srcOrd="2" destOrd="0" presId="urn:microsoft.com/office/officeart/2018/2/layout/IconVerticalSolidList"/>
    <dgm:cxn modelId="{89A75BA6-2A33-42A9-AC82-B487BF40639F}" type="presParOf" srcId="{4E95979D-53AA-48E1-9724-E038CDF14529}" destId="{E9F8C096-A2C0-42D5-974C-4A1860AB737E}" srcOrd="3" destOrd="0" presId="urn:microsoft.com/office/officeart/2018/2/layout/IconVerticalSolidList"/>
    <dgm:cxn modelId="{EF3AAEDA-6F0C-40DA-B76C-125ABA484169}" type="presParOf" srcId="{7E598973-3AE4-4399-81AB-A22403C594AF}" destId="{D6568856-9320-45BE-BB56-6EC0B71E6343}" srcOrd="1" destOrd="0" presId="urn:microsoft.com/office/officeart/2018/2/layout/IconVerticalSolidList"/>
    <dgm:cxn modelId="{2470E5EB-56C1-4A24-8A0B-2ECA1464FC5D}" type="presParOf" srcId="{7E598973-3AE4-4399-81AB-A22403C594AF}" destId="{6A90C9FF-9A61-4E42-BD26-1F5133CDAE84}" srcOrd="2" destOrd="0" presId="urn:microsoft.com/office/officeart/2018/2/layout/IconVerticalSolidList"/>
    <dgm:cxn modelId="{F196B0EA-784E-4693-8162-C66F2C54BDCC}" type="presParOf" srcId="{6A90C9FF-9A61-4E42-BD26-1F5133CDAE84}" destId="{31524550-FEC5-4C53-AAE4-2441B4B46E1E}" srcOrd="0" destOrd="0" presId="urn:microsoft.com/office/officeart/2018/2/layout/IconVerticalSolidList"/>
    <dgm:cxn modelId="{EC9DAEF0-A9A9-47F0-AB79-5E2FBD7EDF8C}" type="presParOf" srcId="{6A90C9FF-9A61-4E42-BD26-1F5133CDAE84}" destId="{3FC3FDA2-717B-4C90-87A8-30B36F747464}" srcOrd="1" destOrd="0" presId="urn:microsoft.com/office/officeart/2018/2/layout/IconVerticalSolidList"/>
    <dgm:cxn modelId="{5DC32C5E-DE60-4F31-BA84-5E10E8B0EF18}" type="presParOf" srcId="{6A90C9FF-9A61-4E42-BD26-1F5133CDAE84}" destId="{53D81CD0-205F-4FD0-8EA1-6E3E3665FEA8}" srcOrd="2" destOrd="0" presId="urn:microsoft.com/office/officeart/2018/2/layout/IconVerticalSolidList"/>
    <dgm:cxn modelId="{010971F6-2654-42EE-BEB6-949B484DBC2F}" type="presParOf" srcId="{6A90C9FF-9A61-4E42-BD26-1F5133CDAE84}" destId="{6A606694-3AE7-449C-951F-C30E74760F2D}" srcOrd="3" destOrd="0" presId="urn:microsoft.com/office/officeart/2018/2/layout/IconVerticalSolidList"/>
    <dgm:cxn modelId="{0F6CB107-69B8-42B4-BB37-03F3BF81DCED}" type="presParOf" srcId="{7E598973-3AE4-4399-81AB-A22403C594AF}" destId="{F1FD2855-176E-480D-A2C8-1DC997F58C4B}" srcOrd="3" destOrd="0" presId="urn:microsoft.com/office/officeart/2018/2/layout/IconVerticalSolidList"/>
    <dgm:cxn modelId="{557F87A9-6896-42E3-93D9-77EBC77B38A6}" type="presParOf" srcId="{7E598973-3AE4-4399-81AB-A22403C594AF}" destId="{43954321-5AAD-401B-8DF6-D383411BEEE2}" srcOrd="4" destOrd="0" presId="urn:microsoft.com/office/officeart/2018/2/layout/IconVerticalSolidList"/>
    <dgm:cxn modelId="{7DFA456A-24CA-445E-BB2D-638098FF7D41}" type="presParOf" srcId="{43954321-5AAD-401B-8DF6-D383411BEEE2}" destId="{7FB03809-91FC-4477-871A-5DB024DDA94F}" srcOrd="0" destOrd="0" presId="urn:microsoft.com/office/officeart/2018/2/layout/IconVerticalSolidList"/>
    <dgm:cxn modelId="{C841CBAE-C832-4644-8C29-6FEDB5B52CBD}" type="presParOf" srcId="{43954321-5AAD-401B-8DF6-D383411BEEE2}" destId="{193B2462-41DB-4FDC-A4A6-EACD556D8D4E}" srcOrd="1" destOrd="0" presId="urn:microsoft.com/office/officeart/2018/2/layout/IconVerticalSolidList"/>
    <dgm:cxn modelId="{3B313C0D-96B2-4983-B2D9-565404F43AC4}" type="presParOf" srcId="{43954321-5AAD-401B-8DF6-D383411BEEE2}" destId="{041E42BD-416D-4CE8-BB00-F9BEFEA8C05E}" srcOrd="2" destOrd="0" presId="urn:microsoft.com/office/officeart/2018/2/layout/IconVerticalSolidList"/>
    <dgm:cxn modelId="{0202D66B-B19D-4149-95F2-D6784DB44CAF}" type="presParOf" srcId="{43954321-5AAD-401B-8DF6-D383411BEEE2}" destId="{F8BA702B-237B-45D7-9852-A53C657D55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5C8FA8-F259-4E66-996B-7D82CA33134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A87E7B-20C0-4A20-91A0-1B3ABEDE4BE0}">
      <dgm:prSet/>
      <dgm:spPr/>
      <dgm:t>
        <a:bodyPr/>
        <a:lstStyle/>
        <a:p>
          <a:r>
            <a:rPr lang="en-US" b="1"/>
            <a:t>DISCOUNT SCENARIO FILTER</a:t>
          </a:r>
          <a:br>
            <a:rPr lang="en-US"/>
          </a:br>
          <a:endParaRPr lang="en-US"/>
        </a:p>
      </dgm:t>
    </dgm:pt>
    <dgm:pt modelId="{01C2111B-3CFF-4342-97B3-EF32B7CCC740}" type="parTrans" cxnId="{031FDFD2-F9CD-4455-B718-ABC03CEDA997}">
      <dgm:prSet/>
      <dgm:spPr/>
      <dgm:t>
        <a:bodyPr/>
        <a:lstStyle/>
        <a:p>
          <a:endParaRPr lang="en-US"/>
        </a:p>
      </dgm:t>
    </dgm:pt>
    <dgm:pt modelId="{96CA3B59-3D08-481A-AE08-65D6DB48985A}" type="sibTrans" cxnId="{031FDFD2-F9CD-4455-B718-ABC03CEDA997}">
      <dgm:prSet/>
      <dgm:spPr/>
      <dgm:t>
        <a:bodyPr/>
        <a:lstStyle/>
        <a:p>
          <a:endParaRPr lang="en-US"/>
        </a:p>
      </dgm:t>
    </dgm:pt>
    <dgm:pt modelId="{C6F788A8-8EAF-4F57-9170-925B64BC749D}">
      <dgm:prSet/>
      <dgm:spPr/>
      <dgm:t>
        <a:bodyPr/>
        <a:lstStyle/>
        <a:p>
          <a:r>
            <a:rPr lang="en-US"/>
            <a:t>The “</a:t>
          </a:r>
          <a:r>
            <a:rPr lang="en-US" b="1"/>
            <a:t>Include Orders with Discount ≤ (%)</a:t>
          </a:r>
          <a:r>
            <a:rPr lang="en-US"/>
            <a:t>” slider allows users to explore how sales performance changes when higher-discounted orders are excluded from the analysis.</a:t>
          </a:r>
        </a:p>
      </dgm:t>
    </dgm:pt>
    <dgm:pt modelId="{C3B4F9CF-2899-4B87-9DEE-C0A6F7963117}" type="parTrans" cxnId="{64DF2186-CDF1-4BDA-A198-485A0B8A426A}">
      <dgm:prSet/>
      <dgm:spPr/>
      <dgm:t>
        <a:bodyPr/>
        <a:lstStyle/>
        <a:p>
          <a:endParaRPr lang="en-US"/>
        </a:p>
      </dgm:t>
    </dgm:pt>
    <dgm:pt modelId="{BE2C9B78-B66E-46EB-92D6-0C764DC2B47B}" type="sibTrans" cxnId="{64DF2186-CDF1-4BDA-A198-485A0B8A426A}">
      <dgm:prSet/>
      <dgm:spPr/>
      <dgm:t>
        <a:bodyPr/>
        <a:lstStyle/>
        <a:p>
          <a:endParaRPr lang="en-US"/>
        </a:p>
      </dgm:t>
    </dgm:pt>
    <dgm:pt modelId="{776B2D87-FE77-407C-B598-AF04C9656ABD}">
      <dgm:prSet/>
      <dgm:spPr/>
      <dgm:t>
        <a:bodyPr/>
        <a:lstStyle/>
        <a:p>
          <a:r>
            <a:rPr lang="en-US"/>
            <a:t>Selecting a lower percentage filters the dashboard to include only orders with discounts less than or equal to the selected value. </a:t>
          </a:r>
        </a:p>
      </dgm:t>
    </dgm:pt>
    <dgm:pt modelId="{67D6CE9F-7F99-4E62-BB6E-436C29C2290B}" type="parTrans" cxnId="{EE8D9140-0FF2-49B9-9522-ACF131806274}">
      <dgm:prSet/>
      <dgm:spPr/>
      <dgm:t>
        <a:bodyPr/>
        <a:lstStyle/>
        <a:p>
          <a:endParaRPr lang="en-US"/>
        </a:p>
      </dgm:t>
    </dgm:pt>
    <dgm:pt modelId="{1D3BAF52-8CEA-4A75-B5B8-71BD1B8A59F3}" type="sibTrans" cxnId="{EE8D9140-0FF2-49B9-9522-ACF131806274}">
      <dgm:prSet/>
      <dgm:spPr/>
      <dgm:t>
        <a:bodyPr/>
        <a:lstStyle/>
        <a:p>
          <a:endParaRPr lang="en-US"/>
        </a:p>
      </dgm:t>
    </dgm:pt>
    <dgm:pt modelId="{6B010BF9-5A1E-4BCA-8F4A-19A5B2A83DBA}">
      <dgm:prSet/>
      <dgm:spPr/>
      <dgm:t>
        <a:bodyPr/>
        <a:lstStyle/>
        <a:p>
          <a:r>
            <a:rPr lang="en-US"/>
            <a:t>Setting the slider to 100% includes all orders and removes the discount-based filter.</a:t>
          </a:r>
          <a:br>
            <a:rPr lang="en-US"/>
          </a:br>
          <a:endParaRPr lang="en-US"/>
        </a:p>
      </dgm:t>
    </dgm:pt>
    <dgm:pt modelId="{D504BABB-FE47-490F-BB7E-6D5BA81061C3}" type="parTrans" cxnId="{8F794D30-E12D-4A54-AB4E-DE1F99FF0FDD}">
      <dgm:prSet/>
      <dgm:spPr/>
      <dgm:t>
        <a:bodyPr/>
        <a:lstStyle/>
        <a:p>
          <a:endParaRPr lang="en-US"/>
        </a:p>
      </dgm:t>
    </dgm:pt>
    <dgm:pt modelId="{7BDD88DF-43F1-496B-B9B5-6809226CB799}" type="sibTrans" cxnId="{8F794D30-E12D-4A54-AB4E-DE1F99FF0FDD}">
      <dgm:prSet/>
      <dgm:spPr/>
      <dgm:t>
        <a:bodyPr/>
        <a:lstStyle/>
        <a:p>
          <a:endParaRPr lang="en-US"/>
        </a:p>
      </dgm:t>
    </dgm:pt>
    <dgm:pt modelId="{0ED11942-9FD9-4803-89C6-64930A453999}">
      <dgm:prSet/>
      <dgm:spPr/>
      <dgm:t>
        <a:bodyPr/>
        <a:lstStyle/>
        <a:p>
          <a:r>
            <a:rPr lang="en-US" dirty="0"/>
            <a:t>This control enables scenario analysis to understand the impact of discounting on revenue, profitability, and product rankings.</a:t>
          </a:r>
        </a:p>
      </dgm:t>
    </dgm:pt>
    <dgm:pt modelId="{05412999-665D-48A4-8BDF-30929CB2B639}" type="parTrans" cxnId="{0AE6DEE4-B01D-4EC1-B9F6-A63B646730CE}">
      <dgm:prSet/>
      <dgm:spPr/>
      <dgm:t>
        <a:bodyPr/>
        <a:lstStyle/>
        <a:p>
          <a:endParaRPr lang="en-US"/>
        </a:p>
      </dgm:t>
    </dgm:pt>
    <dgm:pt modelId="{12708D52-8B6E-4B45-AD68-959EABBB993E}" type="sibTrans" cxnId="{0AE6DEE4-B01D-4EC1-B9F6-A63B646730CE}">
      <dgm:prSet/>
      <dgm:spPr/>
      <dgm:t>
        <a:bodyPr/>
        <a:lstStyle/>
        <a:p>
          <a:endParaRPr lang="en-US"/>
        </a:p>
      </dgm:t>
    </dgm:pt>
    <dgm:pt modelId="{2F4920DD-984E-FC40-B5BD-BF771C5E7AB0}" type="pres">
      <dgm:prSet presAssocID="{865C8FA8-F259-4E66-996B-7D82CA331347}" presName="outerComposite" presStyleCnt="0">
        <dgm:presLayoutVars>
          <dgm:chMax val="5"/>
          <dgm:dir/>
          <dgm:resizeHandles val="exact"/>
        </dgm:presLayoutVars>
      </dgm:prSet>
      <dgm:spPr/>
    </dgm:pt>
    <dgm:pt modelId="{1EE074A3-811C-8B4C-BAA8-8C3B10EE7016}" type="pres">
      <dgm:prSet presAssocID="{865C8FA8-F259-4E66-996B-7D82CA331347}" presName="dummyMaxCanvas" presStyleCnt="0">
        <dgm:presLayoutVars/>
      </dgm:prSet>
      <dgm:spPr/>
    </dgm:pt>
    <dgm:pt modelId="{23940998-CAF8-6D49-8AAA-12DCA086FBFF}" type="pres">
      <dgm:prSet presAssocID="{865C8FA8-F259-4E66-996B-7D82CA331347}" presName="FiveNodes_1" presStyleLbl="node1" presStyleIdx="0" presStyleCnt="5">
        <dgm:presLayoutVars>
          <dgm:bulletEnabled val="1"/>
        </dgm:presLayoutVars>
      </dgm:prSet>
      <dgm:spPr/>
    </dgm:pt>
    <dgm:pt modelId="{30C93801-062A-4848-9437-81D31DDE3B24}" type="pres">
      <dgm:prSet presAssocID="{865C8FA8-F259-4E66-996B-7D82CA331347}" presName="FiveNodes_2" presStyleLbl="node1" presStyleIdx="1" presStyleCnt="5">
        <dgm:presLayoutVars>
          <dgm:bulletEnabled val="1"/>
        </dgm:presLayoutVars>
      </dgm:prSet>
      <dgm:spPr/>
    </dgm:pt>
    <dgm:pt modelId="{0D448C97-9FD1-8846-9BD0-ADD52590A2B3}" type="pres">
      <dgm:prSet presAssocID="{865C8FA8-F259-4E66-996B-7D82CA331347}" presName="FiveNodes_3" presStyleLbl="node1" presStyleIdx="2" presStyleCnt="5">
        <dgm:presLayoutVars>
          <dgm:bulletEnabled val="1"/>
        </dgm:presLayoutVars>
      </dgm:prSet>
      <dgm:spPr/>
    </dgm:pt>
    <dgm:pt modelId="{945515CA-AAA0-F140-BE5A-79E24A892CAC}" type="pres">
      <dgm:prSet presAssocID="{865C8FA8-F259-4E66-996B-7D82CA331347}" presName="FiveNodes_4" presStyleLbl="node1" presStyleIdx="3" presStyleCnt="5">
        <dgm:presLayoutVars>
          <dgm:bulletEnabled val="1"/>
        </dgm:presLayoutVars>
      </dgm:prSet>
      <dgm:spPr/>
    </dgm:pt>
    <dgm:pt modelId="{B5A3E13A-836F-1144-8320-BF41413F21CC}" type="pres">
      <dgm:prSet presAssocID="{865C8FA8-F259-4E66-996B-7D82CA331347}" presName="FiveNodes_5" presStyleLbl="node1" presStyleIdx="4" presStyleCnt="5">
        <dgm:presLayoutVars>
          <dgm:bulletEnabled val="1"/>
        </dgm:presLayoutVars>
      </dgm:prSet>
      <dgm:spPr/>
    </dgm:pt>
    <dgm:pt modelId="{C8EE7791-F8F4-F243-9857-07EADEDC30FC}" type="pres">
      <dgm:prSet presAssocID="{865C8FA8-F259-4E66-996B-7D82CA331347}" presName="FiveConn_1-2" presStyleLbl="fgAccFollowNode1" presStyleIdx="0" presStyleCnt="4">
        <dgm:presLayoutVars>
          <dgm:bulletEnabled val="1"/>
        </dgm:presLayoutVars>
      </dgm:prSet>
      <dgm:spPr/>
    </dgm:pt>
    <dgm:pt modelId="{927FE8E7-3391-4242-AD31-8F4C337DE259}" type="pres">
      <dgm:prSet presAssocID="{865C8FA8-F259-4E66-996B-7D82CA331347}" presName="FiveConn_2-3" presStyleLbl="fgAccFollowNode1" presStyleIdx="1" presStyleCnt="4">
        <dgm:presLayoutVars>
          <dgm:bulletEnabled val="1"/>
        </dgm:presLayoutVars>
      </dgm:prSet>
      <dgm:spPr/>
    </dgm:pt>
    <dgm:pt modelId="{86E3775D-1377-7D41-9CDE-8E073885A731}" type="pres">
      <dgm:prSet presAssocID="{865C8FA8-F259-4E66-996B-7D82CA331347}" presName="FiveConn_3-4" presStyleLbl="fgAccFollowNode1" presStyleIdx="2" presStyleCnt="4">
        <dgm:presLayoutVars>
          <dgm:bulletEnabled val="1"/>
        </dgm:presLayoutVars>
      </dgm:prSet>
      <dgm:spPr/>
    </dgm:pt>
    <dgm:pt modelId="{846DA783-2721-9F48-9C9A-90DABB05D8C8}" type="pres">
      <dgm:prSet presAssocID="{865C8FA8-F259-4E66-996B-7D82CA331347}" presName="FiveConn_4-5" presStyleLbl="fgAccFollowNode1" presStyleIdx="3" presStyleCnt="4">
        <dgm:presLayoutVars>
          <dgm:bulletEnabled val="1"/>
        </dgm:presLayoutVars>
      </dgm:prSet>
      <dgm:spPr/>
    </dgm:pt>
    <dgm:pt modelId="{189C5098-64CF-AB44-AA10-491AFB679C66}" type="pres">
      <dgm:prSet presAssocID="{865C8FA8-F259-4E66-996B-7D82CA331347}" presName="FiveNodes_1_text" presStyleLbl="node1" presStyleIdx="4" presStyleCnt="5">
        <dgm:presLayoutVars>
          <dgm:bulletEnabled val="1"/>
        </dgm:presLayoutVars>
      </dgm:prSet>
      <dgm:spPr/>
    </dgm:pt>
    <dgm:pt modelId="{72DB3DC6-2EE6-7946-B7BA-ECC4FB13EBD8}" type="pres">
      <dgm:prSet presAssocID="{865C8FA8-F259-4E66-996B-7D82CA331347}" presName="FiveNodes_2_text" presStyleLbl="node1" presStyleIdx="4" presStyleCnt="5">
        <dgm:presLayoutVars>
          <dgm:bulletEnabled val="1"/>
        </dgm:presLayoutVars>
      </dgm:prSet>
      <dgm:spPr/>
    </dgm:pt>
    <dgm:pt modelId="{4F6B6CEF-E19E-E640-A881-11B9B7F6CFDC}" type="pres">
      <dgm:prSet presAssocID="{865C8FA8-F259-4E66-996B-7D82CA331347}" presName="FiveNodes_3_text" presStyleLbl="node1" presStyleIdx="4" presStyleCnt="5">
        <dgm:presLayoutVars>
          <dgm:bulletEnabled val="1"/>
        </dgm:presLayoutVars>
      </dgm:prSet>
      <dgm:spPr/>
    </dgm:pt>
    <dgm:pt modelId="{6398F562-9021-7848-8BDA-C29CD746FA28}" type="pres">
      <dgm:prSet presAssocID="{865C8FA8-F259-4E66-996B-7D82CA331347}" presName="FiveNodes_4_text" presStyleLbl="node1" presStyleIdx="4" presStyleCnt="5">
        <dgm:presLayoutVars>
          <dgm:bulletEnabled val="1"/>
        </dgm:presLayoutVars>
      </dgm:prSet>
      <dgm:spPr/>
    </dgm:pt>
    <dgm:pt modelId="{E2548BBB-461C-3048-B913-AF614172009C}" type="pres">
      <dgm:prSet presAssocID="{865C8FA8-F259-4E66-996B-7D82CA33134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99A1E07-16A8-6E48-A9AE-519705B6A186}" type="presOf" srcId="{776B2D87-FE77-407C-B598-AF04C9656ABD}" destId="{4F6B6CEF-E19E-E640-A881-11B9B7F6CFDC}" srcOrd="1" destOrd="0" presId="urn:microsoft.com/office/officeart/2005/8/layout/vProcess5"/>
    <dgm:cxn modelId="{E0D70A12-8402-B447-B7ED-6E59F7939E5E}" type="presOf" srcId="{865C8FA8-F259-4E66-996B-7D82CA331347}" destId="{2F4920DD-984E-FC40-B5BD-BF771C5E7AB0}" srcOrd="0" destOrd="0" presId="urn:microsoft.com/office/officeart/2005/8/layout/vProcess5"/>
    <dgm:cxn modelId="{41113F1A-123C-5C44-A40C-D33C03648C14}" type="presOf" srcId="{C6F788A8-8EAF-4F57-9170-925B64BC749D}" destId="{72DB3DC6-2EE6-7946-B7BA-ECC4FB13EBD8}" srcOrd="1" destOrd="0" presId="urn:microsoft.com/office/officeart/2005/8/layout/vProcess5"/>
    <dgm:cxn modelId="{92522230-F233-CF41-AC37-4446ACA79CCE}" type="presOf" srcId="{CEA87E7B-20C0-4A20-91A0-1B3ABEDE4BE0}" destId="{189C5098-64CF-AB44-AA10-491AFB679C66}" srcOrd="1" destOrd="0" presId="urn:microsoft.com/office/officeart/2005/8/layout/vProcess5"/>
    <dgm:cxn modelId="{8F794D30-E12D-4A54-AB4E-DE1F99FF0FDD}" srcId="{865C8FA8-F259-4E66-996B-7D82CA331347}" destId="{6B010BF9-5A1E-4BCA-8F4A-19A5B2A83DBA}" srcOrd="3" destOrd="0" parTransId="{D504BABB-FE47-490F-BB7E-6D5BA81061C3}" sibTransId="{7BDD88DF-43F1-496B-B9B5-6809226CB799}"/>
    <dgm:cxn modelId="{AD1B1035-B0BB-2340-A631-DB398EE3C6A0}" type="presOf" srcId="{6B010BF9-5A1E-4BCA-8F4A-19A5B2A83DBA}" destId="{6398F562-9021-7848-8BDA-C29CD746FA28}" srcOrd="1" destOrd="0" presId="urn:microsoft.com/office/officeart/2005/8/layout/vProcess5"/>
    <dgm:cxn modelId="{7E70AF38-EB03-FB46-9944-0BD31F47B31E}" type="presOf" srcId="{1D3BAF52-8CEA-4A75-B5B8-71BD1B8A59F3}" destId="{86E3775D-1377-7D41-9CDE-8E073885A731}" srcOrd="0" destOrd="0" presId="urn:microsoft.com/office/officeart/2005/8/layout/vProcess5"/>
    <dgm:cxn modelId="{EE8D9140-0FF2-49B9-9522-ACF131806274}" srcId="{865C8FA8-F259-4E66-996B-7D82CA331347}" destId="{776B2D87-FE77-407C-B598-AF04C9656ABD}" srcOrd="2" destOrd="0" parTransId="{67D6CE9F-7F99-4E62-BB6E-436C29C2290B}" sibTransId="{1D3BAF52-8CEA-4A75-B5B8-71BD1B8A59F3}"/>
    <dgm:cxn modelId="{C1138B45-284D-884A-B508-937B0E1DBF1C}" type="presOf" srcId="{7BDD88DF-43F1-496B-B9B5-6809226CB799}" destId="{846DA783-2721-9F48-9C9A-90DABB05D8C8}" srcOrd="0" destOrd="0" presId="urn:microsoft.com/office/officeart/2005/8/layout/vProcess5"/>
    <dgm:cxn modelId="{E42A6155-E4FC-1B4A-8171-51A888B91A6F}" type="presOf" srcId="{6B010BF9-5A1E-4BCA-8F4A-19A5B2A83DBA}" destId="{945515CA-AAA0-F140-BE5A-79E24A892CAC}" srcOrd="0" destOrd="0" presId="urn:microsoft.com/office/officeart/2005/8/layout/vProcess5"/>
    <dgm:cxn modelId="{C0F4435A-7B5E-F64D-95F1-23CE65BCD46A}" type="presOf" srcId="{96CA3B59-3D08-481A-AE08-65D6DB48985A}" destId="{C8EE7791-F8F4-F243-9857-07EADEDC30FC}" srcOrd="0" destOrd="0" presId="urn:microsoft.com/office/officeart/2005/8/layout/vProcess5"/>
    <dgm:cxn modelId="{EFB3195F-E39B-4B44-95D9-110380BECA7B}" type="presOf" srcId="{776B2D87-FE77-407C-B598-AF04C9656ABD}" destId="{0D448C97-9FD1-8846-9BD0-ADD52590A2B3}" srcOrd="0" destOrd="0" presId="urn:microsoft.com/office/officeart/2005/8/layout/vProcess5"/>
    <dgm:cxn modelId="{64DF2186-CDF1-4BDA-A198-485A0B8A426A}" srcId="{865C8FA8-F259-4E66-996B-7D82CA331347}" destId="{C6F788A8-8EAF-4F57-9170-925B64BC749D}" srcOrd="1" destOrd="0" parTransId="{C3B4F9CF-2899-4B87-9DEE-C0A6F7963117}" sibTransId="{BE2C9B78-B66E-46EB-92D6-0C764DC2B47B}"/>
    <dgm:cxn modelId="{A1F822A3-366F-5E40-8E29-A812B2541236}" type="presOf" srcId="{0ED11942-9FD9-4803-89C6-64930A453999}" destId="{B5A3E13A-836F-1144-8320-BF41413F21CC}" srcOrd="0" destOrd="0" presId="urn:microsoft.com/office/officeart/2005/8/layout/vProcess5"/>
    <dgm:cxn modelId="{135FADA5-1417-FA46-9A45-86C5F1E3B268}" type="presOf" srcId="{CEA87E7B-20C0-4A20-91A0-1B3ABEDE4BE0}" destId="{23940998-CAF8-6D49-8AAA-12DCA086FBFF}" srcOrd="0" destOrd="0" presId="urn:microsoft.com/office/officeart/2005/8/layout/vProcess5"/>
    <dgm:cxn modelId="{5B9397BD-2F4D-3B4C-BB6F-ADB4C1CA567D}" type="presOf" srcId="{0ED11942-9FD9-4803-89C6-64930A453999}" destId="{E2548BBB-461C-3048-B913-AF614172009C}" srcOrd="1" destOrd="0" presId="urn:microsoft.com/office/officeart/2005/8/layout/vProcess5"/>
    <dgm:cxn modelId="{031FDFD2-F9CD-4455-B718-ABC03CEDA997}" srcId="{865C8FA8-F259-4E66-996B-7D82CA331347}" destId="{CEA87E7B-20C0-4A20-91A0-1B3ABEDE4BE0}" srcOrd="0" destOrd="0" parTransId="{01C2111B-3CFF-4342-97B3-EF32B7CCC740}" sibTransId="{96CA3B59-3D08-481A-AE08-65D6DB48985A}"/>
    <dgm:cxn modelId="{3320EAE2-4FD4-354E-9454-248C72FF8D42}" type="presOf" srcId="{BE2C9B78-B66E-46EB-92D6-0C764DC2B47B}" destId="{927FE8E7-3391-4242-AD31-8F4C337DE259}" srcOrd="0" destOrd="0" presId="urn:microsoft.com/office/officeart/2005/8/layout/vProcess5"/>
    <dgm:cxn modelId="{0AE6DEE4-B01D-4EC1-B9F6-A63B646730CE}" srcId="{865C8FA8-F259-4E66-996B-7D82CA331347}" destId="{0ED11942-9FD9-4803-89C6-64930A453999}" srcOrd="4" destOrd="0" parTransId="{05412999-665D-48A4-8BDF-30929CB2B639}" sibTransId="{12708D52-8B6E-4B45-AD68-959EABBB993E}"/>
    <dgm:cxn modelId="{EE8A0EFA-4B8F-7D42-B384-1333AD00258B}" type="presOf" srcId="{C6F788A8-8EAF-4F57-9170-925B64BC749D}" destId="{30C93801-062A-4848-9437-81D31DDE3B24}" srcOrd="0" destOrd="0" presId="urn:microsoft.com/office/officeart/2005/8/layout/vProcess5"/>
    <dgm:cxn modelId="{3D28B09A-66C6-EA4C-A85A-77D2EE90A6C7}" type="presParOf" srcId="{2F4920DD-984E-FC40-B5BD-BF771C5E7AB0}" destId="{1EE074A3-811C-8B4C-BAA8-8C3B10EE7016}" srcOrd="0" destOrd="0" presId="urn:microsoft.com/office/officeart/2005/8/layout/vProcess5"/>
    <dgm:cxn modelId="{53019A1D-4852-B641-80DD-22159F044A6D}" type="presParOf" srcId="{2F4920DD-984E-FC40-B5BD-BF771C5E7AB0}" destId="{23940998-CAF8-6D49-8AAA-12DCA086FBFF}" srcOrd="1" destOrd="0" presId="urn:microsoft.com/office/officeart/2005/8/layout/vProcess5"/>
    <dgm:cxn modelId="{12FF2439-B631-A94F-8F27-EF0053195928}" type="presParOf" srcId="{2F4920DD-984E-FC40-B5BD-BF771C5E7AB0}" destId="{30C93801-062A-4848-9437-81D31DDE3B24}" srcOrd="2" destOrd="0" presId="urn:microsoft.com/office/officeart/2005/8/layout/vProcess5"/>
    <dgm:cxn modelId="{32E961B6-EC98-4140-934E-FA538B0BFF06}" type="presParOf" srcId="{2F4920DD-984E-FC40-B5BD-BF771C5E7AB0}" destId="{0D448C97-9FD1-8846-9BD0-ADD52590A2B3}" srcOrd="3" destOrd="0" presId="urn:microsoft.com/office/officeart/2005/8/layout/vProcess5"/>
    <dgm:cxn modelId="{8C504585-7ACA-1940-97A8-63CCC56AD940}" type="presParOf" srcId="{2F4920DD-984E-FC40-B5BD-BF771C5E7AB0}" destId="{945515CA-AAA0-F140-BE5A-79E24A892CAC}" srcOrd="4" destOrd="0" presId="urn:microsoft.com/office/officeart/2005/8/layout/vProcess5"/>
    <dgm:cxn modelId="{EAAECE16-CD8F-6E40-995D-0D0420153AD9}" type="presParOf" srcId="{2F4920DD-984E-FC40-B5BD-BF771C5E7AB0}" destId="{B5A3E13A-836F-1144-8320-BF41413F21CC}" srcOrd="5" destOrd="0" presId="urn:microsoft.com/office/officeart/2005/8/layout/vProcess5"/>
    <dgm:cxn modelId="{5A8899C6-1FFA-6540-B0AD-EE1443E571BC}" type="presParOf" srcId="{2F4920DD-984E-FC40-B5BD-BF771C5E7AB0}" destId="{C8EE7791-F8F4-F243-9857-07EADEDC30FC}" srcOrd="6" destOrd="0" presId="urn:microsoft.com/office/officeart/2005/8/layout/vProcess5"/>
    <dgm:cxn modelId="{EC71582C-FC4F-7A42-A0A5-D759DC86DFA0}" type="presParOf" srcId="{2F4920DD-984E-FC40-B5BD-BF771C5E7AB0}" destId="{927FE8E7-3391-4242-AD31-8F4C337DE259}" srcOrd="7" destOrd="0" presId="urn:microsoft.com/office/officeart/2005/8/layout/vProcess5"/>
    <dgm:cxn modelId="{3B638B55-8ADB-AD42-8B6E-49A2129A8D70}" type="presParOf" srcId="{2F4920DD-984E-FC40-B5BD-BF771C5E7AB0}" destId="{86E3775D-1377-7D41-9CDE-8E073885A731}" srcOrd="8" destOrd="0" presId="urn:microsoft.com/office/officeart/2005/8/layout/vProcess5"/>
    <dgm:cxn modelId="{A2A25CA3-B32A-BD40-A87B-6FA8496C36B7}" type="presParOf" srcId="{2F4920DD-984E-FC40-B5BD-BF771C5E7AB0}" destId="{846DA783-2721-9F48-9C9A-90DABB05D8C8}" srcOrd="9" destOrd="0" presId="urn:microsoft.com/office/officeart/2005/8/layout/vProcess5"/>
    <dgm:cxn modelId="{60A862E5-86AB-ED46-B01E-2DC641CCB759}" type="presParOf" srcId="{2F4920DD-984E-FC40-B5BD-BF771C5E7AB0}" destId="{189C5098-64CF-AB44-AA10-491AFB679C66}" srcOrd="10" destOrd="0" presId="urn:microsoft.com/office/officeart/2005/8/layout/vProcess5"/>
    <dgm:cxn modelId="{C0D3CC44-BF2B-C14E-B74D-B02B4E07E916}" type="presParOf" srcId="{2F4920DD-984E-FC40-B5BD-BF771C5E7AB0}" destId="{72DB3DC6-2EE6-7946-B7BA-ECC4FB13EBD8}" srcOrd="11" destOrd="0" presId="urn:microsoft.com/office/officeart/2005/8/layout/vProcess5"/>
    <dgm:cxn modelId="{75FDB6CB-3D75-F548-A7DF-A99C9E005B18}" type="presParOf" srcId="{2F4920DD-984E-FC40-B5BD-BF771C5E7AB0}" destId="{4F6B6CEF-E19E-E640-A881-11B9B7F6CFDC}" srcOrd="12" destOrd="0" presId="urn:microsoft.com/office/officeart/2005/8/layout/vProcess5"/>
    <dgm:cxn modelId="{8E7573C7-B9D0-3E45-9B94-38CA6835B0A9}" type="presParOf" srcId="{2F4920DD-984E-FC40-B5BD-BF771C5E7AB0}" destId="{6398F562-9021-7848-8BDA-C29CD746FA28}" srcOrd="13" destOrd="0" presId="urn:microsoft.com/office/officeart/2005/8/layout/vProcess5"/>
    <dgm:cxn modelId="{74B2EE33-8082-8A43-8CA7-9420E133AED6}" type="presParOf" srcId="{2F4920DD-984E-FC40-B5BD-BF771C5E7AB0}" destId="{E2548BBB-461C-3048-B913-AF614172009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37DA2E-F8F8-4F17-9353-0E09D86A23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CC9F2-37BF-42AC-AA0E-51ACFD0E58E8}">
      <dgm:prSet/>
      <dgm:spPr/>
      <dgm:t>
        <a:bodyPr/>
        <a:lstStyle/>
        <a:p>
          <a:r>
            <a:rPr lang="en-US" dirty="0"/>
            <a:t>The .</a:t>
          </a:r>
          <a:r>
            <a:rPr lang="en-US" dirty="0" err="1"/>
            <a:t>tdsx</a:t>
          </a:r>
          <a:r>
            <a:rPr lang="en-US" dirty="0"/>
            <a:t> and .</a:t>
          </a:r>
          <a:r>
            <a:rPr lang="en-US" dirty="0" err="1"/>
            <a:t>twbx</a:t>
          </a:r>
          <a:r>
            <a:rPr lang="en-US" dirty="0"/>
            <a:t> files should be opened using a recent, Tableau-compatible version.</a:t>
          </a:r>
        </a:p>
      </dgm:t>
    </dgm:pt>
    <dgm:pt modelId="{7021D179-E57C-4F07-BF4B-55259A2144A3}" type="parTrans" cxnId="{82ACC368-7850-424F-A895-5D0C329ED6F6}">
      <dgm:prSet/>
      <dgm:spPr/>
      <dgm:t>
        <a:bodyPr/>
        <a:lstStyle/>
        <a:p>
          <a:endParaRPr lang="en-US"/>
        </a:p>
      </dgm:t>
    </dgm:pt>
    <dgm:pt modelId="{54EA72F6-B53D-4B81-A283-5F52183777B5}" type="sibTrans" cxnId="{82ACC368-7850-424F-A895-5D0C329ED6F6}">
      <dgm:prSet/>
      <dgm:spPr/>
      <dgm:t>
        <a:bodyPr/>
        <a:lstStyle/>
        <a:p>
          <a:endParaRPr lang="en-US"/>
        </a:p>
      </dgm:t>
    </dgm:pt>
    <dgm:pt modelId="{DCA02B29-AE45-4204-9B09-71DC89F4F45B}">
      <dgm:prSet/>
      <dgm:spPr/>
      <dgm:t>
        <a:bodyPr/>
        <a:lstStyle/>
        <a:p>
          <a:r>
            <a:rPr lang="en-US" dirty="0"/>
            <a:t>In some environments, opening the data source directly from the .</a:t>
          </a:r>
          <a:r>
            <a:rPr lang="en-US" dirty="0" err="1"/>
            <a:t>twbx</a:t>
          </a:r>
          <a:r>
            <a:rPr lang="en-US" dirty="0"/>
            <a:t> file may result in errors. As the published data source is Excel-based, it may be unstable in certain local setups.</a:t>
          </a:r>
        </a:p>
      </dgm:t>
    </dgm:pt>
    <dgm:pt modelId="{9EA36C97-32F2-4993-8D15-899DD1A9A036}" type="parTrans" cxnId="{D4AC9302-FB55-4964-A3B7-FCDEDD5D9BF7}">
      <dgm:prSet/>
      <dgm:spPr/>
      <dgm:t>
        <a:bodyPr/>
        <a:lstStyle/>
        <a:p>
          <a:endParaRPr lang="en-US"/>
        </a:p>
      </dgm:t>
    </dgm:pt>
    <dgm:pt modelId="{F0512B12-7AD5-4C90-BDD5-89859FDF82E0}" type="sibTrans" cxnId="{D4AC9302-FB55-4964-A3B7-FCDEDD5D9BF7}">
      <dgm:prSet/>
      <dgm:spPr/>
      <dgm:t>
        <a:bodyPr/>
        <a:lstStyle/>
        <a:p>
          <a:endParaRPr lang="en-US"/>
        </a:p>
      </dgm:t>
    </dgm:pt>
    <dgm:pt modelId="{7B9EAC26-11DE-4B93-BC34-4920C802354F}">
      <dgm:prSet/>
      <dgm:spPr/>
      <dgm:t>
        <a:bodyPr/>
        <a:lstStyle/>
        <a:p>
          <a:r>
            <a:rPr lang="en-US" dirty="0"/>
            <a:t>Older Tableau versions may not support some calculations. For example, the Profit Margin calculation uses NULLIF, which may cause errors in earlier Tableau releases.</a:t>
          </a:r>
        </a:p>
      </dgm:t>
    </dgm:pt>
    <dgm:pt modelId="{D904CB1C-56D3-4E90-A898-B3F6D46766CE}" type="parTrans" cxnId="{5A86E7EB-05F5-4625-8C5E-329BC10D7ED7}">
      <dgm:prSet/>
      <dgm:spPr/>
      <dgm:t>
        <a:bodyPr/>
        <a:lstStyle/>
        <a:p>
          <a:endParaRPr lang="en-US"/>
        </a:p>
      </dgm:t>
    </dgm:pt>
    <dgm:pt modelId="{B2110115-5658-4686-8712-755220C22B22}" type="sibTrans" cxnId="{5A86E7EB-05F5-4625-8C5E-329BC10D7ED7}">
      <dgm:prSet/>
      <dgm:spPr/>
      <dgm:t>
        <a:bodyPr/>
        <a:lstStyle/>
        <a:p>
          <a:endParaRPr lang="en-US"/>
        </a:p>
      </dgm:t>
    </dgm:pt>
    <dgm:pt modelId="{449C2E14-2FEA-44B8-A3C7-A02331054AC3}">
      <dgm:prSet/>
      <dgm:spPr/>
      <dgm:t>
        <a:bodyPr/>
        <a:lstStyle/>
        <a:p>
          <a:r>
            <a:rPr lang="en-US" dirty="0"/>
            <a:t>Some images or background elements may not render correctly depending on the environment; therefore, detailed screenshots have been provided.</a:t>
          </a:r>
        </a:p>
      </dgm:t>
    </dgm:pt>
    <dgm:pt modelId="{71826C50-D707-41B8-BC16-AC5B817511C4}" type="parTrans" cxnId="{6ABEA133-819E-4DC0-8278-84088E3F22F7}">
      <dgm:prSet/>
      <dgm:spPr/>
      <dgm:t>
        <a:bodyPr/>
        <a:lstStyle/>
        <a:p>
          <a:endParaRPr lang="en-US"/>
        </a:p>
      </dgm:t>
    </dgm:pt>
    <dgm:pt modelId="{039BE5AE-0B1A-4033-952E-F4DEA57885EA}" type="sibTrans" cxnId="{6ABEA133-819E-4DC0-8278-84088E3F22F7}">
      <dgm:prSet/>
      <dgm:spPr/>
      <dgm:t>
        <a:bodyPr/>
        <a:lstStyle/>
        <a:p>
          <a:endParaRPr lang="en-US"/>
        </a:p>
      </dgm:t>
    </dgm:pt>
    <dgm:pt modelId="{D0775DC5-49E6-4A41-8F82-24AFB9CF3B99}">
      <dgm:prSet/>
      <dgm:spPr/>
      <dgm:t>
        <a:bodyPr/>
        <a:lstStyle/>
        <a:p>
          <a:r>
            <a:rPr lang="en-US" dirty="0"/>
            <a:t>The </a:t>
          </a:r>
          <a:r>
            <a:rPr lang="en-US" dirty="0" err="1"/>
            <a:t>Jupyter</a:t>
          </a:r>
          <a:r>
            <a:rPr lang="en-US" dirty="0"/>
            <a:t> Notebook (.</a:t>
          </a:r>
          <a:r>
            <a:rPr lang="en-US" dirty="0" err="1"/>
            <a:t>ipynb</a:t>
          </a:r>
          <a:r>
            <a:rPr lang="en-US" dirty="0"/>
            <a:t>) should open without issues; however, an HTML version has also been included as a fallback.</a:t>
          </a:r>
        </a:p>
      </dgm:t>
    </dgm:pt>
    <dgm:pt modelId="{5E2B9E23-1DF7-442A-9B60-F9B8BF2108BF}" type="parTrans" cxnId="{208BCA79-C28A-45CD-B214-FA7321C95453}">
      <dgm:prSet/>
      <dgm:spPr/>
      <dgm:t>
        <a:bodyPr/>
        <a:lstStyle/>
        <a:p>
          <a:endParaRPr lang="en-US"/>
        </a:p>
      </dgm:t>
    </dgm:pt>
    <dgm:pt modelId="{BC9A58AE-501E-4F2B-9A51-0C5B33ED8353}" type="sibTrans" cxnId="{208BCA79-C28A-45CD-B214-FA7321C95453}">
      <dgm:prSet/>
      <dgm:spPr/>
      <dgm:t>
        <a:bodyPr/>
        <a:lstStyle/>
        <a:p>
          <a:endParaRPr lang="en-US"/>
        </a:p>
      </dgm:t>
    </dgm:pt>
    <dgm:pt modelId="{643B9D51-A308-4057-9B0C-6C9ABBC9A768}">
      <dgm:prSet/>
      <dgm:spPr/>
      <dgm:t>
        <a:bodyPr/>
        <a:lstStyle/>
        <a:p>
          <a:r>
            <a:rPr lang="en-US" dirty="0"/>
            <a:t>Although a geographic hierarchy has been defined, Tableau does not display the drill-down (+) icon on the map in this view.</a:t>
          </a:r>
        </a:p>
      </dgm:t>
    </dgm:pt>
    <dgm:pt modelId="{0296A932-86D3-4A88-AA40-F4DC02CBFDD1}" type="parTrans" cxnId="{55C552F1-7361-4C8D-99FD-8883681570DF}">
      <dgm:prSet/>
      <dgm:spPr/>
      <dgm:t>
        <a:bodyPr/>
        <a:lstStyle/>
        <a:p>
          <a:endParaRPr lang="en-US"/>
        </a:p>
      </dgm:t>
    </dgm:pt>
    <dgm:pt modelId="{A379FABD-DC6F-4C83-AB05-F528C1C6CC80}" type="sibTrans" cxnId="{55C552F1-7361-4C8D-99FD-8883681570DF}">
      <dgm:prSet/>
      <dgm:spPr/>
      <dgm:t>
        <a:bodyPr/>
        <a:lstStyle/>
        <a:p>
          <a:endParaRPr lang="en-US"/>
        </a:p>
      </dgm:t>
    </dgm:pt>
    <dgm:pt modelId="{E8DB8B79-00F1-9D43-AD59-A6F78B8ED987}" type="pres">
      <dgm:prSet presAssocID="{B037DA2E-F8F8-4F17-9353-0E09D86A23CD}" presName="linear" presStyleCnt="0">
        <dgm:presLayoutVars>
          <dgm:animLvl val="lvl"/>
          <dgm:resizeHandles val="exact"/>
        </dgm:presLayoutVars>
      </dgm:prSet>
      <dgm:spPr/>
    </dgm:pt>
    <dgm:pt modelId="{7E9A321D-6258-2549-A55D-C232D734B8BF}" type="pres">
      <dgm:prSet presAssocID="{9DDCC9F2-37BF-42AC-AA0E-51ACFD0E58E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1D6719F-DC7E-F448-A78A-9F720EB636E8}" type="pres">
      <dgm:prSet presAssocID="{54EA72F6-B53D-4B81-A283-5F52183777B5}" presName="spacer" presStyleCnt="0"/>
      <dgm:spPr/>
    </dgm:pt>
    <dgm:pt modelId="{68A9B1BB-F8DF-9549-BEFB-3572BE91B11C}" type="pres">
      <dgm:prSet presAssocID="{DCA02B29-AE45-4204-9B09-71DC89F4F45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0E64317-4776-0B44-9CFE-4DE02E2CDF2F}" type="pres">
      <dgm:prSet presAssocID="{F0512B12-7AD5-4C90-BDD5-89859FDF82E0}" presName="spacer" presStyleCnt="0"/>
      <dgm:spPr/>
    </dgm:pt>
    <dgm:pt modelId="{0BB25FA7-F25D-3540-84CA-F09B1FED003C}" type="pres">
      <dgm:prSet presAssocID="{7B9EAC26-11DE-4B93-BC34-4920C802354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95F7326-9FA2-5B40-A27F-49929493814B}" type="pres">
      <dgm:prSet presAssocID="{B2110115-5658-4686-8712-755220C22B22}" presName="spacer" presStyleCnt="0"/>
      <dgm:spPr/>
    </dgm:pt>
    <dgm:pt modelId="{731530C0-FED5-8147-BFE7-6FF6D4FD5C24}" type="pres">
      <dgm:prSet presAssocID="{449C2E14-2FEA-44B8-A3C7-A02331054AC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DB27C54-1D10-9F42-83C6-C754A3CCEDC9}" type="pres">
      <dgm:prSet presAssocID="{039BE5AE-0B1A-4033-952E-F4DEA57885EA}" presName="spacer" presStyleCnt="0"/>
      <dgm:spPr/>
    </dgm:pt>
    <dgm:pt modelId="{569EB849-758F-584E-A95E-22367FB919D6}" type="pres">
      <dgm:prSet presAssocID="{D0775DC5-49E6-4A41-8F82-24AFB9CF3B9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F93D046-2D66-EE4F-8311-A3801E1C925D}" type="pres">
      <dgm:prSet presAssocID="{BC9A58AE-501E-4F2B-9A51-0C5B33ED8353}" presName="spacer" presStyleCnt="0"/>
      <dgm:spPr/>
    </dgm:pt>
    <dgm:pt modelId="{A5D1F7AC-14E8-A64A-B3BB-D9C6FDCA62F4}" type="pres">
      <dgm:prSet presAssocID="{643B9D51-A308-4057-9B0C-6C9ABBC9A7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4AC9302-FB55-4964-A3B7-FCDEDD5D9BF7}" srcId="{B037DA2E-F8F8-4F17-9353-0E09D86A23CD}" destId="{DCA02B29-AE45-4204-9B09-71DC89F4F45B}" srcOrd="1" destOrd="0" parTransId="{9EA36C97-32F2-4993-8D15-899DD1A9A036}" sibTransId="{F0512B12-7AD5-4C90-BDD5-89859FDF82E0}"/>
    <dgm:cxn modelId="{BD6ADB05-875A-C64B-B3C5-408E1962BEE6}" type="presOf" srcId="{7B9EAC26-11DE-4B93-BC34-4920C802354F}" destId="{0BB25FA7-F25D-3540-84CA-F09B1FED003C}" srcOrd="0" destOrd="0" presId="urn:microsoft.com/office/officeart/2005/8/layout/vList2"/>
    <dgm:cxn modelId="{BB474A28-3D2D-B949-BEB2-98920587B55B}" type="presOf" srcId="{D0775DC5-49E6-4A41-8F82-24AFB9CF3B99}" destId="{569EB849-758F-584E-A95E-22367FB919D6}" srcOrd="0" destOrd="0" presId="urn:microsoft.com/office/officeart/2005/8/layout/vList2"/>
    <dgm:cxn modelId="{6ABEA133-819E-4DC0-8278-84088E3F22F7}" srcId="{B037DA2E-F8F8-4F17-9353-0E09D86A23CD}" destId="{449C2E14-2FEA-44B8-A3C7-A02331054AC3}" srcOrd="3" destOrd="0" parTransId="{71826C50-D707-41B8-BC16-AC5B817511C4}" sibTransId="{039BE5AE-0B1A-4033-952E-F4DEA57885EA}"/>
    <dgm:cxn modelId="{784F4C54-D7AA-1B48-99CA-71FE31D0966C}" type="presOf" srcId="{DCA02B29-AE45-4204-9B09-71DC89F4F45B}" destId="{68A9B1BB-F8DF-9549-BEFB-3572BE91B11C}" srcOrd="0" destOrd="0" presId="urn:microsoft.com/office/officeart/2005/8/layout/vList2"/>
    <dgm:cxn modelId="{82ACC368-7850-424F-A895-5D0C329ED6F6}" srcId="{B037DA2E-F8F8-4F17-9353-0E09D86A23CD}" destId="{9DDCC9F2-37BF-42AC-AA0E-51ACFD0E58E8}" srcOrd="0" destOrd="0" parTransId="{7021D179-E57C-4F07-BF4B-55259A2144A3}" sibTransId="{54EA72F6-B53D-4B81-A283-5F52183777B5}"/>
    <dgm:cxn modelId="{208BCA79-C28A-45CD-B214-FA7321C95453}" srcId="{B037DA2E-F8F8-4F17-9353-0E09D86A23CD}" destId="{D0775DC5-49E6-4A41-8F82-24AFB9CF3B99}" srcOrd="4" destOrd="0" parTransId="{5E2B9E23-1DF7-442A-9B60-F9B8BF2108BF}" sibTransId="{BC9A58AE-501E-4F2B-9A51-0C5B33ED8353}"/>
    <dgm:cxn modelId="{773BC08D-8E31-4D42-AB59-015A52D44B21}" type="presOf" srcId="{643B9D51-A308-4057-9B0C-6C9ABBC9A768}" destId="{A5D1F7AC-14E8-A64A-B3BB-D9C6FDCA62F4}" srcOrd="0" destOrd="0" presId="urn:microsoft.com/office/officeart/2005/8/layout/vList2"/>
    <dgm:cxn modelId="{300A828F-CC43-E044-8B9F-BD3904BF812C}" type="presOf" srcId="{9DDCC9F2-37BF-42AC-AA0E-51ACFD0E58E8}" destId="{7E9A321D-6258-2549-A55D-C232D734B8BF}" srcOrd="0" destOrd="0" presId="urn:microsoft.com/office/officeart/2005/8/layout/vList2"/>
    <dgm:cxn modelId="{98E1BEBE-7314-664B-BD0F-AAF5BD6C6827}" type="presOf" srcId="{B037DA2E-F8F8-4F17-9353-0E09D86A23CD}" destId="{E8DB8B79-00F1-9D43-AD59-A6F78B8ED987}" srcOrd="0" destOrd="0" presId="urn:microsoft.com/office/officeart/2005/8/layout/vList2"/>
    <dgm:cxn modelId="{5A86E7EB-05F5-4625-8C5E-329BC10D7ED7}" srcId="{B037DA2E-F8F8-4F17-9353-0E09D86A23CD}" destId="{7B9EAC26-11DE-4B93-BC34-4920C802354F}" srcOrd="2" destOrd="0" parTransId="{D904CB1C-56D3-4E90-A898-B3F6D46766CE}" sibTransId="{B2110115-5658-4686-8712-755220C22B22}"/>
    <dgm:cxn modelId="{55C552F1-7361-4C8D-99FD-8883681570DF}" srcId="{B037DA2E-F8F8-4F17-9353-0E09D86A23CD}" destId="{643B9D51-A308-4057-9B0C-6C9ABBC9A768}" srcOrd="5" destOrd="0" parTransId="{0296A932-86D3-4A88-AA40-F4DC02CBFDD1}" sibTransId="{A379FABD-DC6F-4C83-AB05-F528C1C6CC80}"/>
    <dgm:cxn modelId="{AF0245F6-C544-0646-B1D4-702501706A2D}" type="presOf" srcId="{449C2E14-2FEA-44B8-A3C7-A02331054AC3}" destId="{731530C0-FED5-8147-BFE7-6FF6D4FD5C24}" srcOrd="0" destOrd="0" presId="urn:microsoft.com/office/officeart/2005/8/layout/vList2"/>
    <dgm:cxn modelId="{D81C0496-FC74-E045-B8A6-4BEB8CAFC32A}" type="presParOf" srcId="{E8DB8B79-00F1-9D43-AD59-A6F78B8ED987}" destId="{7E9A321D-6258-2549-A55D-C232D734B8BF}" srcOrd="0" destOrd="0" presId="urn:microsoft.com/office/officeart/2005/8/layout/vList2"/>
    <dgm:cxn modelId="{1A776790-8E7E-4C4C-BC38-8A69009C0907}" type="presParOf" srcId="{E8DB8B79-00F1-9D43-AD59-A6F78B8ED987}" destId="{C1D6719F-DC7E-F448-A78A-9F720EB636E8}" srcOrd="1" destOrd="0" presId="urn:microsoft.com/office/officeart/2005/8/layout/vList2"/>
    <dgm:cxn modelId="{06F01E91-FC5E-124C-98F2-825E2C77C141}" type="presParOf" srcId="{E8DB8B79-00F1-9D43-AD59-A6F78B8ED987}" destId="{68A9B1BB-F8DF-9549-BEFB-3572BE91B11C}" srcOrd="2" destOrd="0" presId="urn:microsoft.com/office/officeart/2005/8/layout/vList2"/>
    <dgm:cxn modelId="{8118BE7A-0A9E-0A44-98A0-00DC062B4F1F}" type="presParOf" srcId="{E8DB8B79-00F1-9D43-AD59-A6F78B8ED987}" destId="{80E64317-4776-0B44-9CFE-4DE02E2CDF2F}" srcOrd="3" destOrd="0" presId="urn:microsoft.com/office/officeart/2005/8/layout/vList2"/>
    <dgm:cxn modelId="{E1920E29-983B-1F4E-B898-20A8CD5AB10B}" type="presParOf" srcId="{E8DB8B79-00F1-9D43-AD59-A6F78B8ED987}" destId="{0BB25FA7-F25D-3540-84CA-F09B1FED003C}" srcOrd="4" destOrd="0" presId="urn:microsoft.com/office/officeart/2005/8/layout/vList2"/>
    <dgm:cxn modelId="{7FE42AB0-ABB2-2C4E-8EEB-C2AA9BD0EFE0}" type="presParOf" srcId="{E8DB8B79-00F1-9D43-AD59-A6F78B8ED987}" destId="{195F7326-9FA2-5B40-A27F-49929493814B}" srcOrd="5" destOrd="0" presId="urn:microsoft.com/office/officeart/2005/8/layout/vList2"/>
    <dgm:cxn modelId="{89FB967E-721F-0442-8BCF-BBC34A5994A6}" type="presParOf" srcId="{E8DB8B79-00F1-9D43-AD59-A6F78B8ED987}" destId="{731530C0-FED5-8147-BFE7-6FF6D4FD5C24}" srcOrd="6" destOrd="0" presId="urn:microsoft.com/office/officeart/2005/8/layout/vList2"/>
    <dgm:cxn modelId="{759321D8-261C-0747-A33A-7964A9460057}" type="presParOf" srcId="{E8DB8B79-00F1-9D43-AD59-A6F78B8ED987}" destId="{6DB27C54-1D10-9F42-83C6-C754A3CCEDC9}" srcOrd="7" destOrd="0" presId="urn:microsoft.com/office/officeart/2005/8/layout/vList2"/>
    <dgm:cxn modelId="{DA02E486-0838-DF49-8428-E7365FC49A37}" type="presParOf" srcId="{E8DB8B79-00F1-9D43-AD59-A6F78B8ED987}" destId="{569EB849-758F-584E-A95E-22367FB919D6}" srcOrd="8" destOrd="0" presId="urn:microsoft.com/office/officeart/2005/8/layout/vList2"/>
    <dgm:cxn modelId="{879351DF-A49A-3942-AB88-4423F9C3D779}" type="presParOf" srcId="{E8DB8B79-00F1-9D43-AD59-A6F78B8ED987}" destId="{BF93D046-2D66-EE4F-8311-A3801E1C925D}" srcOrd="9" destOrd="0" presId="urn:microsoft.com/office/officeart/2005/8/layout/vList2"/>
    <dgm:cxn modelId="{49DC029B-FDBB-FA40-BF7C-988BEFB77A14}" type="presParOf" srcId="{E8DB8B79-00F1-9D43-AD59-A6F78B8ED987}" destId="{A5D1F7AC-14E8-A64A-B3BB-D9C6FDCA62F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94E38-3090-4A07-B160-5991F702FD76}">
      <dsp:nvSpPr>
        <dsp:cNvPr id="0" name=""/>
        <dsp:cNvSpPr/>
      </dsp:nvSpPr>
      <dsp:spPr>
        <a:xfrm>
          <a:off x="0" y="531"/>
          <a:ext cx="5387501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D9119-7A07-4005-A90F-AB538324AF75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ADD2A-D00C-4D3B-9743-608233DB7183}">
      <dsp:nvSpPr>
        <dsp:cNvPr id="0" name=""/>
        <dsp:cNvSpPr/>
      </dsp:nvSpPr>
      <dsp:spPr>
        <a:xfrm>
          <a:off x="1435590" y="531"/>
          <a:ext cx="3951911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Analyst: </a:t>
          </a:r>
          <a:r>
            <a:rPr lang="en-US" sz="2200" b="0" kern="1200" dirty="0"/>
            <a:t>Abhishek Singh</a:t>
          </a:r>
        </a:p>
      </dsp:txBody>
      <dsp:txXfrm>
        <a:off x="1435590" y="531"/>
        <a:ext cx="3951911" cy="1242935"/>
      </dsp:txXfrm>
    </dsp:sp>
    <dsp:sp modelId="{95DB6ABA-6E41-4921-928F-1BCAB2545215}">
      <dsp:nvSpPr>
        <dsp:cNvPr id="0" name=""/>
        <dsp:cNvSpPr/>
      </dsp:nvSpPr>
      <dsp:spPr>
        <a:xfrm>
          <a:off x="0" y="1554201"/>
          <a:ext cx="5387501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7A386-330A-477A-96BB-DF2365DEBAA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E951E-6D7D-45F2-A3E5-1065EC591FA8}">
      <dsp:nvSpPr>
        <dsp:cNvPr id="0" name=""/>
        <dsp:cNvSpPr/>
      </dsp:nvSpPr>
      <dsp:spPr>
        <a:xfrm>
          <a:off x="1435590" y="1554201"/>
          <a:ext cx="3951911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Tech Stack: </a:t>
          </a:r>
          <a:r>
            <a:rPr lang="en-US" sz="2200" b="0" kern="1200" dirty="0"/>
            <a:t>Python, </a:t>
          </a:r>
          <a:r>
            <a:rPr lang="en-US" sz="2200" b="0" kern="1200" dirty="0" err="1"/>
            <a:t>Jupyter</a:t>
          </a:r>
          <a:r>
            <a:rPr lang="en-US" sz="2200" b="0" kern="1200" dirty="0"/>
            <a:t> Notebook, SQL, Tableau, Microsoft </a:t>
          </a:r>
          <a:r>
            <a:rPr lang="en-US" sz="2200" b="0" kern="1200" dirty="0" err="1"/>
            <a:t>Powerpoint</a:t>
          </a:r>
          <a:r>
            <a:rPr lang="en-US" sz="2200" b="0" kern="1200" dirty="0"/>
            <a:t>, </a:t>
          </a:r>
          <a:r>
            <a:rPr lang="en-US" sz="2200" b="0" kern="1200" dirty="0" err="1"/>
            <a:t>draw.io</a:t>
          </a:r>
          <a:endParaRPr lang="en-US" sz="2200" b="0" kern="1200" dirty="0"/>
        </a:p>
      </dsp:txBody>
      <dsp:txXfrm>
        <a:off x="1435590" y="1554201"/>
        <a:ext cx="3951911" cy="1242935"/>
      </dsp:txXfrm>
    </dsp:sp>
    <dsp:sp modelId="{E2051F35-1610-446E-AF0A-3ABC63A0430C}">
      <dsp:nvSpPr>
        <dsp:cNvPr id="0" name=""/>
        <dsp:cNvSpPr/>
      </dsp:nvSpPr>
      <dsp:spPr>
        <a:xfrm>
          <a:off x="0" y="3107870"/>
          <a:ext cx="5387501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71330-4D43-43F9-86A4-AD5F12A0C1E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31F7C-1AC0-49A1-8CD2-B2A126ADA8FD}">
      <dsp:nvSpPr>
        <dsp:cNvPr id="0" name=""/>
        <dsp:cNvSpPr/>
      </dsp:nvSpPr>
      <dsp:spPr>
        <a:xfrm>
          <a:off x="1435590" y="3107870"/>
          <a:ext cx="3951911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Date: </a:t>
          </a:r>
          <a:r>
            <a:rPr lang="en-US" sz="2200" b="0" kern="1200" dirty="0"/>
            <a:t>Jan-2026</a:t>
          </a:r>
        </a:p>
      </dsp:txBody>
      <dsp:txXfrm>
        <a:off x="1435590" y="3107870"/>
        <a:ext cx="3951911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E41B6-4E2D-43AF-A13D-BD0CD9903937}">
      <dsp:nvSpPr>
        <dsp:cNvPr id="0" name=""/>
        <dsp:cNvSpPr/>
      </dsp:nvSpPr>
      <dsp:spPr>
        <a:xfrm>
          <a:off x="0" y="537"/>
          <a:ext cx="10398760" cy="12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96F8B-A821-44DD-B15F-0977B5AD5AE0}">
      <dsp:nvSpPr>
        <dsp:cNvPr id="0" name=""/>
        <dsp:cNvSpPr/>
      </dsp:nvSpPr>
      <dsp:spPr>
        <a:xfrm>
          <a:off x="380296" y="283402"/>
          <a:ext cx="691449" cy="6914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8C096-A2C0-42D5-974C-4A1860AB737E}">
      <dsp:nvSpPr>
        <dsp:cNvPr id="0" name=""/>
        <dsp:cNvSpPr/>
      </dsp:nvSpPr>
      <dsp:spPr>
        <a:xfrm>
          <a:off x="1452043" y="537"/>
          <a:ext cx="8946716" cy="12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52" tIns="133052" rIns="133052" bIns="13305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• Tableau Data Source (.tdsx) created following Tableau data source best practices to support self-service reporting.</a:t>
          </a:r>
          <a:endParaRPr lang="en-US" sz="2100" kern="1200"/>
        </a:p>
      </dsp:txBody>
      <dsp:txXfrm>
        <a:off x="1452043" y="537"/>
        <a:ext cx="8946716" cy="1257180"/>
      </dsp:txXfrm>
    </dsp:sp>
    <dsp:sp modelId="{31524550-FEC5-4C53-AAE4-2441B4B46E1E}">
      <dsp:nvSpPr>
        <dsp:cNvPr id="0" name=""/>
        <dsp:cNvSpPr/>
      </dsp:nvSpPr>
      <dsp:spPr>
        <a:xfrm>
          <a:off x="0" y="1572012"/>
          <a:ext cx="10398760" cy="12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3FDA2-717B-4C90-87A8-30B36F747464}">
      <dsp:nvSpPr>
        <dsp:cNvPr id="0" name=""/>
        <dsp:cNvSpPr/>
      </dsp:nvSpPr>
      <dsp:spPr>
        <a:xfrm>
          <a:off x="380296" y="1854877"/>
          <a:ext cx="691449" cy="6914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06694-3AE7-449C-951F-C30E74760F2D}">
      <dsp:nvSpPr>
        <dsp:cNvPr id="0" name=""/>
        <dsp:cNvSpPr/>
      </dsp:nvSpPr>
      <dsp:spPr>
        <a:xfrm>
          <a:off x="1452043" y="1572012"/>
          <a:ext cx="8946716" cy="12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52" tIns="133052" rIns="133052" bIns="13305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• In a production environment, the preferred approach would be to use a database view or materialized view as the Tableau connection.</a:t>
          </a:r>
          <a:endParaRPr lang="en-US" sz="2100" kern="1200"/>
        </a:p>
      </dsp:txBody>
      <dsp:txXfrm>
        <a:off x="1452043" y="1572012"/>
        <a:ext cx="8946716" cy="1257180"/>
      </dsp:txXfrm>
    </dsp:sp>
    <dsp:sp modelId="{7FB03809-91FC-4477-871A-5DB024DDA94F}">
      <dsp:nvSpPr>
        <dsp:cNvPr id="0" name=""/>
        <dsp:cNvSpPr/>
      </dsp:nvSpPr>
      <dsp:spPr>
        <a:xfrm>
          <a:off x="0" y="3143487"/>
          <a:ext cx="10398760" cy="12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B2462-41DB-4FDC-A4A6-EACD556D8D4E}">
      <dsp:nvSpPr>
        <dsp:cNvPr id="0" name=""/>
        <dsp:cNvSpPr/>
      </dsp:nvSpPr>
      <dsp:spPr>
        <a:xfrm>
          <a:off x="380296" y="3426353"/>
          <a:ext cx="691449" cy="6914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A702B-237B-45D7-9852-A53C657D55E8}">
      <dsp:nvSpPr>
        <dsp:cNvPr id="0" name=""/>
        <dsp:cNvSpPr/>
      </dsp:nvSpPr>
      <dsp:spPr>
        <a:xfrm>
          <a:off x="1452043" y="3143487"/>
          <a:ext cx="8946716" cy="12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52" tIns="133052" rIns="133052" bIns="13305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• For this proof of concept, the data source was created using an Excel extract generated via data transformations performed in Python.</a:t>
          </a:r>
          <a:endParaRPr lang="en-US" sz="2100" kern="1200"/>
        </a:p>
      </dsp:txBody>
      <dsp:txXfrm>
        <a:off x="1452043" y="3143487"/>
        <a:ext cx="8946716" cy="12571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E41B6-4E2D-43AF-A13D-BD0CD9903937}">
      <dsp:nvSpPr>
        <dsp:cNvPr id="0" name=""/>
        <dsp:cNvSpPr/>
      </dsp:nvSpPr>
      <dsp:spPr>
        <a:xfrm>
          <a:off x="0" y="537"/>
          <a:ext cx="10398760" cy="12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96F8B-A821-44DD-B15F-0977B5AD5AE0}">
      <dsp:nvSpPr>
        <dsp:cNvPr id="0" name=""/>
        <dsp:cNvSpPr/>
      </dsp:nvSpPr>
      <dsp:spPr>
        <a:xfrm>
          <a:off x="380296" y="283402"/>
          <a:ext cx="691449" cy="6914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8C096-A2C0-42D5-974C-4A1860AB737E}">
      <dsp:nvSpPr>
        <dsp:cNvPr id="0" name=""/>
        <dsp:cNvSpPr/>
      </dsp:nvSpPr>
      <dsp:spPr>
        <a:xfrm>
          <a:off x="1452043" y="537"/>
          <a:ext cx="8946716" cy="12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52" tIns="133052" rIns="133052" bIns="13305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• Tableau Retail Dashboard (.</a:t>
          </a:r>
          <a:r>
            <a:rPr lang="en-US" sz="2100" b="1" kern="1200" dirty="0" err="1"/>
            <a:t>twbx</a:t>
          </a:r>
          <a:r>
            <a:rPr lang="en-US" sz="2100" b="1" kern="1200" dirty="0"/>
            <a:t>) created using published Tableau data source created in Task 1.</a:t>
          </a:r>
          <a:endParaRPr lang="en-US" sz="2100" kern="1200" dirty="0"/>
        </a:p>
      </dsp:txBody>
      <dsp:txXfrm>
        <a:off x="1452043" y="537"/>
        <a:ext cx="8946716" cy="1257180"/>
      </dsp:txXfrm>
    </dsp:sp>
    <dsp:sp modelId="{31524550-FEC5-4C53-AAE4-2441B4B46E1E}">
      <dsp:nvSpPr>
        <dsp:cNvPr id="0" name=""/>
        <dsp:cNvSpPr/>
      </dsp:nvSpPr>
      <dsp:spPr>
        <a:xfrm>
          <a:off x="0" y="1572012"/>
          <a:ext cx="10398760" cy="12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3FDA2-717B-4C90-87A8-30B36F747464}">
      <dsp:nvSpPr>
        <dsp:cNvPr id="0" name=""/>
        <dsp:cNvSpPr/>
      </dsp:nvSpPr>
      <dsp:spPr>
        <a:xfrm>
          <a:off x="380296" y="1854877"/>
          <a:ext cx="691449" cy="6914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06694-3AE7-449C-951F-C30E74760F2D}">
      <dsp:nvSpPr>
        <dsp:cNvPr id="0" name=""/>
        <dsp:cNvSpPr/>
      </dsp:nvSpPr>
      <dsp:spPr>
        <a:xfrm>
          <a:off x="1452043" y="1572012"/>
          <a:ext cx="8946716" cy="12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52" tIns="133052" rIns="133052" bIns="13305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• Dashboard connected to published data source is easy to maintain and refresh. A change in data source updates all connected dashboards automatically!</a:t>
          </a:r>
          <a:endParaRPr lang="en-US" sz="2100" kern="1200" dirty="0"/>
        </a:p>
      </dsp:txBody>
      <dsp:txXfrm>
        <a:off x="1452043" y="1572012"/>
        <a:ext cx="8946716" cy="1257180"/>
      </dsp:txXfrm>
    </dsp:sp>
    <dsp:sp modelId="{7FB03809-91FC-4477-871A-5DB024DDA94F}">
      <dsp:nvSpPr>
        <dsp:cNvPr id="0" name=""/>
        <dsp:cNvSpPr/>
      </dsp:nvSpPr>
      <dsp:spPr>
        <a:xfrm>
          <a:off x="0" y="3143487"/>
          <a:ext cx="10398760" cy="12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B2462-41DB-4FDC-A4A6-EACD556D8D4E}">
      <dsp:nvSpPr>
        <dsp:cNvPr id="0" name=""/>
        <dsp:cNvSpPr/>
      </dsp:nvSpPr>
      <dsp:spPr>
        <a:xfrm>
          <a:off x="380296" y="3426353"/>
          <a:ext cx="691449" cy="6914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A702B-237B-45D7-9852-A53C657D55E8}">
      <dsp:nvSpPr>
        <dsp:cNvPr id="0" name=""/>
        <dsp:cNvSpPr/>
      </dsp:nvSpPr>
      <dsp:spPr>
        <a:xfrm>
          <a:off x="1452043" y="3143487"/>
          <a:ext cx="8946716" cy="12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52" tIns="133052" rIns="133052" bIns="13305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• Interactivity is inbuilt in dashboard in forms of filters and sliders that provide “What if Analysis”. A filter for returns helps separating returned and non returned order for a more targeted analysis!</a:t>
          </a:r>
          <a:endParaRPr lang="en-US" sz="2100" kern="1200" dirty="0"/>
        </a:p>
      </dsp:txBody>
      <dsp:txXfrm>
        <a:off x="1452043" y="3143487"/>
        <a:ext cx="8946716" cy="12571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40998-CAF8-6D49-8AAA-12DCA086FBFF}">
      <dsp:nvSpPr>
        <dsp:cNvPr id="0" name=""/>
        <dsp:cNvSpPr/>
      </dsp:nvSpPr>
      <dsp:spPr>
        <a:xfrm>
          <a:off x="0" y="0"/>
          <a:ext cx="5308823" cy="627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DISCOUNT SCENARIO FILTER</a:t>
          </a:r>
          <a:br>
            <a:rPr lang="en-US" sz="1100" kern="1200"/>
          </a:br>
          <a:endParaRPr lang="en-US" sz="1100" kern="1200"/>
        </a:p>
      </dsp:txBody>
      <dsp:txXfrm>
        <a:off x="18367" y="18367"/>
        <a:ext cx="4558768" cy="590361"/>
      </dsp:txXfrm>
    </dsp:sp>
    <dsp:sp modelId="{30C93801-062A-4848-9437-81D31DDE3B24}">
      <dsp:nvSpPr>
        <dsp:cNvPr id="0" name=""/>
        <dsp:cNvSpPr/>
      </dsp:nvSpPr>
      <dsp:spPr>
        <a:xfrm>
          <a:off x="396438" y="714192"/>
          <a:ext cx="5308823" cy="627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“</a:t>
          </a:r>
          <a:r>
            <a:rPr lang="en-US" sz="1100" b="1" kern="1200"/>
            <a:t>Include Orders with Discount ≤ (%)</a:t>
          </a:r>
          <a:r>
            <a:rPr lang="en-US" sz="1100" kern="1200"/>
            <a:t>” slider allows users to explore how sales performance changes when higher-discounted orders are excluded from the analysis.</a:t>
          </a:r>
        </a:p>
      </dsp:txBody>
      <dsp:txXfrm>
        <a:off x="414805" y="732559"/>
        <a:ext cx="4468039" cy="590361"/>
      </dsp:txXfrm>
    </dsp:sp>
    <dsp:sp modelId="{0D448C97-9FD1-8846-9BD0-ADD52590A2B3}">
      <dsp:nvSpPr>
        <dsp:cNvPr id="0" name=""/>
        <dsp:cNvSpPr/>
      </dsp:nvSpPr>
      <dsp:spPr>
        <a:xfrm>
          <a:off x="792876" y="1428384"/>
          <a:ext cx="5308823" cy="627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Selecting a lower percentage filters the dashboard to include only orders with discounts less than or equal to the selected value. </a:t>
          </a:r>
        </a:p>
      </dsp:txBody>
      <dsp:txXfrm>
        <a:off x="811243" y="1446751"/>
        <a:ext cx="4468039" cy="590361"/>
      </dsp:txXfrm>
    </dsp:sp>
    <dsp:sp modelId="{945515CA-AAA0-F140-BE5A-79E24A892CAC}">
      <dsp:nvSpPr>
        <dsp:cNvPr id="0" name=""/>
        <dsp:cNvSpPr/>
      </dsp:nvSpPr>
      <dsp:spPr>
        <a:xfrm>
          <a:off x="1189314" y="2142576"/>
          <a:ext cx="5308823" cy="627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Setting the slider to 100% includes all orders and removes the discount-based filter.</a:t>
          </a:r>
          <a:br>
            <a:rPr lang="en-US" sz="1100" kern="1200"/>
          </a:br>
          <a:endParaRPr lang="en-US" sz="1100" kern="1200"/>
        </a:p>
      </dsp:txBody>
      <dsp:txXfrm>
        <a:off x="1207681" y="2160943"/>
        <a:ext cx="4468039" cy="590361"/>
      </dsp:txXfrm>
    </dsp:sp>
    <dsp:sp modelId="{B5A3E13A-836F-1144-8320-BF41413F21CC}">
      <dsp:nvSpPr>
        <dsp:cNvPr id="0" name=""/>
        <dsp:cNvSpPr/>
      </dsp:nvSpPr>
      <dsp:spPr>
        <a:xfrm>
          <a:off x="1585752" y="2856768"/>
          <a:ext cx="5308823" cy="627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control enables scenario analysis to understand the impact of discounting on revenue, profitability, and product rankings.</a:t>
          </a:r>
        </a:p>
      </dsp:txBody>
      <dsp:txXfrm>
        <a:off x="1604119" y="2875135"/>
        <a:ext cx="4468039" cy="590361"/>
      </dsp:txXfrm>
    </dsp:sp>
    <dsp:sp modelId="{C8EE7791-F8F4-F243-9857-07EADEDC30FC}">
      <dsp:nvSpPr>
        <dsp:cNvPr id="0" name=""/>
        <dsp:cNvSpPr/>
      </dsp:nvSpPr>
      <dsp:spPr>
        <a:xfrm>
          <a:off x="4901211" y="458128"/>
          <a:ext cx="407612" cy="4076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992924" y="458128"/>
        <a:ext cx="224186" cy="306728"/>
      </dsp:txXfrm>
    </dsp:sp>
    <dsp:sp modelId="{927FE8E7-3391-4242-AD31-8F4C337DE259}">
      <dsp:nvSpPr>
        <dsp:cNvPr id="0" name=""/>
        <dsp:cNvSpPr/>
      </dsp:nvSpPr>
      <dsp:spPr>
        <a:xfrm>
          <a:off x="5297649" y="1172320"/>
          <a:ext cx="407612" cy="4076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389362" y="1172320"/>
        <a:ext cx="224186" cy="306728"/>
      </dsp:txXfrm>
    </dsp:sp>
    <dsp:sp modelId="{86E3775D-1377-7D41-9CDE-8E073885A731}">
      <dsp:nvSpPr>
        <dsp:cNvPr id="0" name=""/>
        <dsp:cNvSpPr/>
      </dsp:nvSpPr>
      <dsp:spPr>
        <a:xfrm>
          <a:off x="5694087" y="1876060"/>
          <a:ext cx="407612" cy="4076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785800" y="1876060"/>
        <a:ext cx="224186" cy="306728"/>
      </dsp:txXfrm>
    </dsp:sp>
    <dsp:sp modelId="{846DA783-2721-9F48-9C9A-90DABB05D8C8}">
      <dsp:nvSpPr>
        <dsp:cNvPr id="0" name=""/>
        <dsp:cNvSpPr/>
      </dsp:nvSpPr>
      <dsp:spPr>
        <a:xfrm>
          <a:off x="6090525" y="2597220"/>
          <a:ext cx="407612" cy="4076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182238" y="2597220"/>
        <a:ext cx="224186" cy="3067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A321D-6258-2549-A55D-C232D734B8BF}">
      <dsp:nvSpPr>
        <dsp:cNvPr id="0" name=""/>
        <dsp:cNvSpPr/>
      </dsp:nvSpPr>
      <dsp:spPr>
        <a:xfrm>
          <a:off x="0" y="9431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.</a:t>
          </a:r>
          <a:r>
            <a:rPr lang="en-US" sz="1600" kern="1200" dirty="0" err="1"/>
            <a:t>tdsx</a:t>
          </a:r>
          <a:r>
            <a:rPr lang="en-US" sz="1600" kern="1200" dirty="0"/>
            <a:t> and .</a:t>
          </a:r>
          <a:r>
            <a:rPr lang="en-US" sz="1600" kern="1200" dirty="0" err="1"/>
            <a:t>twbx</a:t>
          </a:r>
          <a:r>
            <a:rPr lang="en-US" sz="1600" kern="1200" dirty="0"/>
            <a:t> files should be opened using a recent, Tableau-compatible version.</a:t>
          </a:r>
        </a:p>
      </dsp:txBody>
      <dsp:txXfrm>
        <a:off x="31185" y="125504"/>
        <a:ext cx="10453230" cy="576450"/>
      </dsp:txXfrm>
    </dsp:sp>
    <dsp:sp modelId="{68A9B1BB-F8DF-9549-BEFB-3572BE91B11C}">
      <dsp:nvSpPr>
        <dsp:cNvPr id="0" name=""/>
        <dsp:cNvSpPr/>
      </dsp:nvSpPr>
      <dsp:spPr>
        <a:xfrm>
          <a:off x="0" y="77921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 some environments, opening the data source directly from the .</a:t>
          </a:r>
          <a:r>
            <a:rPr lang="en-US" sz="1600" kern="1200" dirty="0" err="1"/>
            <a:t>twbx</a:t>
          </a:r>
          <a:r>
            <a:rPr lang="en-US" sz="1600" kern="1200" dirty="0"/>
            <a:t> file may result in errors. As the published data source is Excel-based, it may be unstable in certain local setups.</a:t>
          </a:r>
        </a:p>
      </dsp:txBody>
      <dsp:txXfrm>
        <a:off x="31185" y="810404"/>
        <a:ext cx="10453230" cy="576450"/>
      </dsp:txXfrm>
    </dsp:sp>
    <dsp:sp modelId="{0BB25FA7-F25D-3540-84CA-F09B1FED003C}">
      <dsp:nvSpPr>
        <dsp:cNvPr id="0" name=""/>
        <dsp:cNvSpPr/>
      </dsp:nvSpPr>
      <dsp:spPr>
        <a:xfrm>
          <a:off x="0" y="146411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Older Tableau versions may not support some calculations. For example, the Profit Margin calculation uses NULLIF, which may cause errors in earlier Tableau releases.</a:t>
          </a:r>
        </a:p>
      </dsp:txBody>
      <dsp:txXfrm>
        <a:off x="31185" y="1495304"/>
        <a:ext cx="10453230" cy="576450"/>
      </dsp:txXfrm>
    </dsp:sp>
    <dsp:sp modelId="{731530C0-FED5-8147-BFE7-6FF6D4FD5C24}">
      <dsp:nvSpPr>
        <dsp:cNvPr id="0" name=""/>
        <dsp:cNvSpPr/>
      </dsp:nvSpPr>
      <dsp:spPr>
        <a:xfrm>
          <a:off x="0" y="2149020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Some images or background elements may not render correctly depending on the environment; therefore, detailed screenshots have been provided.</a:t>
          </a:r>
        </a:p>
      </dsp:txBody>
      <dsp:txXfrm>
        <a:off x="31185" y="2180205"/>
        <a:ext cx="10453230" cy="576450"/>
      </dsp:txXfrm>
    </dsp:sp>
    <dsp:sp modelId="{569EB849-758F-584E-A95E-22367FB919D6}">
      <dsp:nvSpPr>
        <dsp:cNvPr id="0" name=""/>
        <dsp:cNvSpPr/>
      </dsp:nvSpPr>
      <dsp:spPr>
        <a:xfrm>
          <a:off x="0" y="2833920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</a:t>
          </a:r>
          <a:r>
            <a:rPr lang="en-US" sz="1600" kern="1200" dirty="0" err="1"/>
            <a:t>Jupyter</a:t>
          </a:r>
          <a:r>
            <a:rPr lang="en-US" sz="1600" kern="1200" dirty="0"/>
            <a:t> Notebook (.</a:t>
          </a:r>
          <a:r>
            <a:rPr lang="en-US" sz="1600" kern="1200" dirty="0" err="1"/>
            <a:t>ipynb</a:t>
          </a:r>
          <a:r>
            <a:rPr lang="en-US" sz="1600" kern="1200" dirty="0"/>
            <a:t>) should open without issues; however, an HTML version has also been included as a fallback.</a:t>
          </a:r>
        </a:p>
      </dsp:txBody>
      <dsp:txXfrm>
        <a:off x="31185" y="2865105"/>
        <a:ext cx="10453230" cy="576450"/>
      </dsp:txXfrm>
    </dsp:sp>
    <dsp:sp modelId="{A5D1F7AC-14E8-A64A-B3BB-D9C6FDCA62F4}">
      <dsp:nvSpPr>
        <dsp:cNvPr id="0" name=""/>
        <dsp:cNvSpPr/>
      </dsp:nvSpPr>
      <dsp:spPr>
        <a:xfrm>
          <a:off x="0" y="3518820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Although a geographic hierarchy has been defined, Tableau does not display the drill-down (+) icon on the map in this view.</a:t>
          </a:r>
        </a:p>
      </dsp:txBody>
      <dsp:txXfrm>
        <a:off x="31185" y="3550005"/>
        <a:ext cx="10453230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312D-FAAA-E25A-0714-3E8F00FB4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3124A-F3BA-72BF-01A3-F9192930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1CC78-C166-5980-9C60-1B7E5D4C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BC96-7705-3431-D69D-9FA69222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06D3C-D55B-2ADC-94D5-6D849ABC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2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019D-0B18-3BC1-C866-1E84C163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22A0-6103-3AED-E4FE-564EDDE79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A142E-5180-1916-06ED-41E712B1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67924-A83A-DBB0-4D1A-A0565798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91D3A-5325-3471-00D0-E629F1B6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5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159D-E565-CE82-7C3D-977ADF19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623EF-977F-9086-3BED-EF7C97ECC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B6FB5-1C03-6F48-2588-F676168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AF86A-F558-5471-4052-09BE5EE4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24DFC-0721-168D-AB39-FE8267B4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AEEB-0699-8BBA-3305-D93AE047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C843-67D4-60F6-99D6-0891DE3A0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91D6F-43E4-511F-C688-0F7D92AC7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A92EC-F38C-EA98-BE18-B18F2FBF1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BAF51-25A7-A6CE-A163-BE4AC3A6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3E9C6-311D-BA30-4F78-E79EA298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1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8DB5-2EE6-5FD3-D591-3AD4F075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B9ECB-E584-ED0F-08E4-6E9EE1008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AEB77-1275-FB12-E13A-8DE83E089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5CDE6-AA9A-BB65-767F-89C406A3E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1257A-EE15-0079-6355-C8143F529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90D8D-A09A-6FE7-5A7F-CB259A50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44846-B249-2FE4-2CC9-E870D09C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58A16-3ED2-8249-BB56-888C0FE5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F5A5-5429-8CEB-EBEB-56B22002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F9BA6-C28A-4AF9-D262-AF154861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BED27-FB70-4478-2C63-A8DC5E27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B5576-B25C-477B-1787-8C43B1B1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7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73CF0-39C6-4B79-A389-64A5669D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C91CC-4757-8E55-4CED-5BCF67AB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105DF-579B-E20F-26DC-02ABF1BD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FFA4-8791-2688-1EC2-49C48284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46AE4-8F74-0DE8-3725-20C2B8CC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376EE-8E04-80B7-8570-0ED18C1B5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84251-026C-FE64-0AF6-C8589854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97B5B-8590-E56A-63E4-D0835674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D898B-EA55-6A19-E49A-0A8A6875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0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1DEA-F807-B13A-B699-D8D1DD46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A9977-713D-BDE9-AE06-7A1ABB89F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5D565-DA6A-12E8-ACEF-2D2301EAF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AA5E6-6F1D-1991-9108-FB98F65D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5EAF7-9A61-8344-C0A0-B7366FF3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944D7-F474-AF34-63B2-CCF203C6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5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48D0-38E7-F1C6-0CAC-FB3C3C60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4C61C-9B42-ED30-56F6-EB4F1BCE1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F3B7-D3E6-E65B-98DE-A1D154D2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679A-2DFA-0123-975F-44E67889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37C7-C666-B3A8-1445-CD8F83B4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6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7048C-BCB2-5FE0-9668-39961EE9B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C8DF4-BA3F-6B71-FC4D-FC00134F7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1BC36-50B5-8F54-3572-B03A54D7A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11A2D-AA8D-3B55-9699-9D99CC83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999C9-B8F0-F94F-D888-861732C5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2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365858-5FA0-724D-8D11-E0B54D77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76880-6FC2-1C8E-4E83-8E49ACED7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216E0-D92C-353E-F7FC-7F556F66F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DF40A-3B6A-BB40-9C39-4072C5A3676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8E06-ABAC-DBE3-F397-0AA2EE159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572B8-8D95-D54D-268B-5AF7B93C5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853BC-6D9C-B04F-B5F0-A2AB0673E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7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AD025-B82E-01AD-6D82-4FE0B033ACA4}"/>
              </a:ext>
            </a:extLst>
          </p:cNvPr>
          <p:cNvSpPr txBox="1"/>
          <p:nvPr/>
        </p:nvSpPr>
        <p:spPr>
          <a:xfrm>
            <a:off x="838200" y="365125"/>
            <a:ext cx="53875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solidFill>
                  <a:srgbClr val="00B050"/>
                </a:solidFill>
                <a:latin typeface="+mj-lt"/>
                <a:ea typeface="+mj-ea"/>
                <a:cs typeface="+mj-cs"/>
              </a:rPr>
              <a:t>mrge</a:t>
            </a:r>
            <a:r>
              <a:rPr lang="en-US" sz="4400" b="1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 Data Analytics Task</a:t>
            </a:r>
          </a:p>
        </p:txBody>
      </p:sp>
      <p:pic>
        <p:nvPicPr>
          <p:cNvPr id="9" name="Picture 8" descr="A close-up of a blue and green background&#10;&#10;Description automatically generated">
            <a:extLst>
              <a:ext uri="{FF2B5EF4-FFF2-40B4-BE49-F238E27FC236}">
                <a16:creationId xmlns:a16="http://schemas.microsoft.com/office/drawing/2014/main" id="{F748FB0F-84AB-F679-3CC1-F609788FC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26" r="15877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5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308F4-050C-9F91-B57C-D280380ED8E7}"/>
              </a:ext>
            </a:extLst>
          </p:cNvPr>
          <p:cNvSpPr/>
          <p:nvPr/>
        </p:nvSpPr>
        <p:spPr>
          <a:xfrm>
            <a:off x="0" y="6207760"/>
            <a:ext cx="12192000" cy="650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extBox 5">
            <a:extLst>
              <a:ext uri="{FF2B5EF4-FFF2-40B4-BE49-F238E27FC236}">
                <a16:creationId xmlns:a16="http://schemas.microsoft.com/office/drawing/2014/main" id="{3EBD9590-FBEF-D140-5EE8-DF6D43FD93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3846013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479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E769C-C300-318F-3990-E082E34B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ACFC5-F40D-1BD2-5F69-3F74E09F81A5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1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6FF41-B675-1783-0398-7641BEFAAE91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effectLst/>
              </a:rPr>
              <a:t>A Sales Data Source that supports a self-service reporting model, allowing end users to easily build ad-hoc reports.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0D75FC-FC01-B7C8-1435-357288F0B810}"/>
              </a:ext>
            </a:extLst>
          </p:cNvPr>
          <p:cNvSpPr/>
          <p:nvPr/>
        </p:nvSpPr>
        <p:spPr>
          <a:xfrm>
            <a:off x="0" y="6207760"/>
            <a:ext cx="12192000" cy="650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2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9CBC-6F59-3DB3-159D-E6F30ECB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24F603-BCD0-CF36-E0AC-B78EDB7D2A79}"/>
              </a:ext>
            </a:extLst>
          </p:cNvPr>
          <p:cNvSpPr/>
          <p:nvPr/>
        </p:nvSpPr>
        <p:spPr>
          <a:xfrm>
            <a:off x="0" y="6207760"/>
            <a:ext cx="12192000" cy="650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F5D59-6CF0-A957-C75F-39676E7F251E}"/>
              </a:ext>
            </a:extLst>
          </p:cNvPr>
          <p:cNvSpPr txBox="1"/>
          <p:nvPr/>
        </p:nvSpPr>
        <p:spPr>
          <a:xfrm>
            <a:off x="223520" y="325120"/>
            <a:ext cx="1183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00B050"/>
                </a:solidFill>
              </a:rPr>
              <a:t>Task 1: Solution</a:t>
            </a:r>
            <a:endParaRPr lang="en-US" sz="4000" b="1" dirty="0">
              <a:solidFill>
                <a:srgbClr val="00B050"/>
              </a:solidFill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03F75151-4DD3-A5A9-9662-1A11DE1D8AC6}"/>
              </a:ext>
            </a:extLst>
          </p:cNvPr>
          <p:cNvGraphicFramePr/>
          <p:nvPr/>
        </p:nvGraphicFramePr>
        <p:xfrm>
          <a:off x="584200" y="1130330"/>
          <a:ext cx="10398760" cy="440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12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D5D3D-2C04-183E-99DB-61F2720B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3F7FB-4A34-CFE3-52C8-9C0D713ED91A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Task 1: Solution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F2B31-1728-0EFE-8B2A-E7DEB83F85E1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Based on the sample data, a star schema was the most appropriate design, with dimension tables connected to the fact table through foreign keys. Created using </a:t>
            </a:r>
            <a:r>
              <a:rPr lang="en-US" sz="2200" b="1" dirty="0" err="1"/>
              <a:t>draw.io</a:t>
            </a:r>
            <a:r>
              <a:rPr lang="en-US" sz="2200" b="1" dirty="0"/>
              <a:t>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57989A-A45F-8B38-A2A1-0E2075367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727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3DB373-C501-DAC8-419C-ACA02ACE04A2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9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C6F63-B9B9-FC5E-ACDA-6864FB65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B7E4F-74F0-6720-BB2B-FEA626D02BCD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Task 1: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AD044-F436-A8F2-962E-C43AEF48A70B}"/>
              </a:ext>
            </a:extLst>
          </p:cNvPr>
          <p:cNvSpPr txBox="1"/>
          <p:nvPr/>
        </p:nvSpPr>
        <p:spPr>
          <a:xfrm>
            <a:off x="638881" y="1922561"/>
            <a:ext cx="1090964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 b="1"/>
              <a:t>Screenshots of solution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2BB5DA-4946-C17E-249E-114E3FE59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18" y="2498248"/>
            <a:ext cx="5614416" cy="3509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73265-D338-7774-54DB-F526CFA6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67" y="2512286"/>
            <a:ext cx="5614416" cy="34949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105B9D-D5F0-AF48-9741-75D6332B28A6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8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2CF05-233B-D2E4-CBF1-158FC3D9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CC6AD6-A639-3AA5-4024-0EB26BE9A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0F801-88BB-920A-3F16-BA2857E19AA2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2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1BABB9D2-65BC-4B8C-C251-DA7D6B1C0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E2795-3FE3-06B2-D247-84E1EABC9AB0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dirty="0">
                <a:solidFill>
                  <a:srgbClr val="000000"/>
                </a:solidFill>
                <a:effectLst/>
              </a:rPr>
              <a:t>A Global Sales Dashboard for executive stakeholders to quickly monitor overall</a:t>
            </a:r>
          </a:p>
          <a:p>
            <a:r>
              <a:rPr lang="en-US" sz="2200" b="1" dirty="0">
                <a:solidFill>
                  <a:srgbClr val="000000"/>
                </a:solidFill>
                <a:effectLst/>
              </a:rPr>
              <a:t>sales performance.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580C8-D28B-1C3F-9994-E3BFB1FA7CD4}"/>
              </a:ext>
            </a:extLst>
          </p:cNvPr>
          <p:cNvSpPr/>
          <p:nvPr/>
        </p:nvSpPr>
        <p:spPr>
          <a:xfrm>
            <a:off x="0" y="6207760"/>
            <a:ext cx="12192000" cy="650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0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5EA2B-9C2E-8A98-919E-368B8EB2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EDE963-77D3-36B8-E21F-F944C38ADE9B}"/>
              </a:ext>
            </a:extLst>
          </p:cNvPr>
          <p:cNvSpPr/>
          <p:nvPr/>
        </p:nvSpPr>
        <p:spPr>
          <a:xfrm>
            <a:off x="0" y="6207760"/>
            <a:ext cx="12192000" cy="650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C4994-3F94-84A5-9A93-7BCF1FCE7EA0}"/>
              </a:ext>
            </a:extLst>
          </p:cNvPr>
          <p:cNvSpPr txBox="1"/>
          <p:nvPr/>
        </p:nvSpPr>
        <p:spPr>
          <a:xfrm>
            <a:off x="223520" y="325120"/>
            <a:ext cx="1183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</a:rPr>
              <a:t>Task 2: Solution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4618C108-C086-4FE9-2E63-C38037D73D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181986"/>
              </p:ext>
            </p:extLst>
          </p:nvPr>
        </p:nvGraphicFramePr>
        <p:xfrm>
          <a:off x="584200" y="1130330"/>
          <a:ext cx="10398760" cy="440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925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1655-0C69-649D-A1A4-29D0E9F2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22A153-C971-2C50-6E11-0C17C9195DFF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Task 2: Solution</a:t>
            </a:r>
            <a:endParaRPr lang="en-US" sz="5400" b="1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CB382-CDAA-28E0-D5C4-6FCD6F63A552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9FE1E-0463-A7B2-F693-3E7EB5BC72FE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5BA1B-3716-EFAF-477F-75DC24E1092D}"/>
              </a:ext>
            </a:extLst>
          </p:cNvPr>
          <p:cNvSpPr txBox="1"/>
          <p:nvPr/>
        </p:nvSpPr>
        <p:spPr>
          <a:xfrm>
            <a:off x="4008119" y="79512"/>
            <a:ext cx="797320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5C4AE6"/>
                </a:solidFill>
                <a:effectLst/>
              </a:rPr>
              <a:t>METRIC DEFINITIONS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Revenue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Total sales value generated from orders after discounts are applied.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Calculated as: Price Per Unit × Quantity × (1 − Discount)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Profit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The financial gain from sales after costs are accounted for.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Provided directly from the source data.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Profit Margin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The percentage of revenue that is retained as profit.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Calculated as: Profit ÷ Revenue.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A higher margin indicates more profitable sales.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Discount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The percentage reduction applied to the product’s price.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Example: A discount of 0.20 represents a 20% discount.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Shipping Days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The number of days taken to ship an order from the order date to the ship date.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Calculated as: Ship Date − Order Date.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Order Count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The total number of unique customer orders.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Based on distinct Order ID values.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Returned / Not Returned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Indicates whether an order was returned by the customer.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Returned – The order was returned.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Not Returned – The order was successfully completed.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Customer Segment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A classification of customers based on business-defined segments.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Product Category / Sub-Category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Product grouping used to organize items into broader categories for analysis.</a:t>
            </a:r>
            <a:endParaRPr lang="en-US" sz="1000" dirty="0">
              <a:effectLst/>
            </a:endParaRPr>
          </a:p>
          <a:p>
            <a:pPr algn="ctr"/>
            <a:endParaRPr lang="en-US" sz="1000" dirty="0">
              <a:solidFill>
                <a:srgbClr val="666666"/>
              </a:solidFill>
              <a:effectLst/>
            </a:endParaRPr>
          </a:p>
          <a:p>
            <a:pPr algn="ctr"/>
            <a:r>
              <a:rPr lang="en-US" sz="1000" b="1" dirty="0">
                <a:solidFill>
                  <a:srgbClr val="333333"/>
                </a:solidFill>
                <a:effectLst/>
              </a:rPr>
              <a:t>Shipping Mode</a:t>
            </a:r>
            <a:endParaRPr lang="en-US" sz="1000" dirty="0">
              <a:effectLst/>
            </a:endParaRPr>
          </a:p>
          <a:p>
            <a:pPr algn="ctr"/>
            <a:r>
              <a:rPr lang="en-US" sz="1000" dirty="0">
                <a:solidFill>
                  <a:srgbClr val="333333"/>
                </a:solidFill>
                <a:effectLst/>
              </a:rPr>
              <a:t>The method used to ship the order (e.g., Standard, Second Class, Same Day).</a:t>
            </a:r>
            <a:endParaRPr lang="en-US" sz="1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2397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53DA3-4215-D3B1-46A2-98CC2BF6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B1AD9-DFC7-0439-4EEA-DC9E3C304185}"/>
              </a:ext>
            </a:extLst>
          </p:cNvPr>
          <p:cNvSpPr txBox="1"/>
          <p:nvPr/>
        </p:nvSpPr>
        <p:spPr>
          <a:xfrm>
            <a:off x="640080" y="329184"/>
            <a:ext cx="6894576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Task 2: Solution</a:t>
            </a:r>
            <a:endParaRPr lang="en-US" sz="5400" b="1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9FB3892-7F8C-A317-D077-038FCCBB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3625642"/>
            <a:ext cx="4014216" cy="82291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C91A0CF-0268-3183-0AC3-C3B03555E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867634"/>
            <a:ext cx="3995928" cy="5993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470D79-E709-2482-1D05-DEF1404944E9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CC1E5-849B-B732-6DDD-A3395812CFE4}"/>
              </a:ext>
            </a:extLst>
          </p:cNvPr>
          <p:cNvSpPr txBox="1"/>
          <p:nvPr/>
        </p:nvSpPr>
        <p:spPr>
          <a:xfrm>
            <a:off x="7741605" y="3005662"/>
            <a:ext cx="4118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B1B1B"/>
                </a:solidFill>
                <a:effectLst/>
              </a:rPr>
              <a:t>** </a:t>
            </a:r>
            <a:r>
              <a:rPr lang="en-US" sz="1200" dirty="0">
                <a:solidFill>
                  <a:srgbClr val="1B1B1B"/>
                </a:solidFill>
                <a:effectLst/>
              </a:rPr>
              <a:t>Discounts above</a:t>
            </a:r>
            <a:r>
              <a:rPr lang="en-US" sz="1200" b="1" dirty="0">
                <a:solidFill>
                  <a:srgbClr val="1B1B1B"/>
                </a:solidFill>
                <a:effectLst/>
              </a:rPr>
              <a:t> 65% </a:t>
            </a:r>
            <a:r>
              <a:rPr lang="en-US" sz="1200" dirty="0">
                <a:solidFill>
                  <a:srgbClr val="1B1B1B"/>
                </a:solidFill>
                <a:effectLst/>
              </a:rPr>
              <a:t>are associated with</a:t>
            </a:r>
            <a:r>
              <a:rPr lang="en-US" sz="1200" b="1" dirty="0">
                <a:solidFill>
                  <a:srgbClr val="1B1B1B"/>
                </a:solidFill>
                <a:effectLst/>
              </a:rPr>
              <a:t> sharp decline in profitability </a:t>
            </a:r>
            <a:r>
              <a:rPr lang="en-US" sz="1200" dirty="0">
                <a:solidFill>
                  <a:srgbClr val="1B1B1B"/>
                </a:solidFill>
                <a:effectLst/>
              </a:rPr>
              <a:t>for</a:t>
            </a:r>
            <a:r>
              <a:rPr lang="en-US" sz="1200" b="1" dirty="0">
                <a:solidFill>
                  <a:srgbClr val="1B1B1B"/>
                </a:solidFill>
                <a:effectLst/>
              </a:rPr>
              <a:t> non returned orders</a:t>
            </a:r>
            <a:endParaRPr lang="en-US" sz="1200" dirty="0">
              <a:effectLst/>
            </a:endParaRPr>
          </a:p>
        </p:txBody>
      </p:sp>
      <p:graphicFrame>
        <p:nvGraphicFramePr>
          <p:cNvPr id="19" name="TextBox 5">
            <a:extLst>
              <a:ext uri="{FF2B5EF4-FFF2-40B4-BE49-F238E27FC236}">
                <a16:creationId xmlns:a16="http://schemas.microsoft.com/office/drawing/2014/main" id="{8DC0E519-A419-5D8A-F956-8504DE28E4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62555"/>
              </p:ext>
            </p:extLst>
          </p:nvPr>
        </p:nvGraphicFramePr>
        <p:xfrm>
          <a:off x="640080" y="2706624"/>
          <a:ext cx="6894576" cy="348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2587A5-2E24-19F1-35F0-08622753CA5B}"/>
              </a:ext>
            </a:extLst>
          </p:cNvPr>
          <p:cNvCxnSpPr>
            <a:cxnSpLocks/>
          </p:cNvCxnSpPr>
          <p:nvPr/>
        </p:nvCxnSpPr>
        <p:spPr>
          <a:xfrm flipH="1">
            <a:off x="10241280" y="3625642"/>
            <a:ext cx="314960" cy="263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8A63C8-22B0-8BB1-6B11-68EAB7450320}"/>
              </a:ext>
            </a:extLst>
          </p:cNvPr>
          <p:cNvSpPr txBox="1"/>
          <p:nvPr/>
        </p:nvSpPr>
        <p:spPr>
          <a:xfrm>
            <a:off x="10495280" y="3387910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65 %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5404A3-5E65-7BF2-DA4A-E9C839113D6B}"/>
              </a:ext>
            </a:extLst>
          </p:cNvPr>
          <p:cNvCxnSpPr>
            <a:cxnSpLocks/>
          </p:cNvCxnSpPr>
          <p:nvPr/>
        </p:nvCxnSpPr>
        <p:spPr>
          <a:xfrm flipH="1">
            <a:off x="10398760" y="4619803"/>
            <a:ext cx="314960" cy="263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E7D801B-0E44-02BD-4034-EFE995716B06}"/>
              </a:ext>
            </a:extLst>
          </p:cNvPr>
          <p:cNvSpPr txBox="1"/>
          <p:nvPr/>
        </p:nvSpPr>
        <p:spPr>
          <a:xfrm>
            <a:off x="10655357" y="4455287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70 %</a:t>
            </a:r>
          </a:p>
        </p:txBody>
      </p:sp>
    </p:spTree>
    <p:extLst>
      <p:ext uri="{BB962C8B-B14F-4D97-AF65-F5344CB8AC3E}">
        <p14:creationId xmlns:p14="http://schemas.microsoft.com/office/powerpoint/2010/main" val="91947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B6171-D7AB-DAF4-16A3-01D57E0F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FE5A7-376A-71B6-7C92-5B608A69D108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2: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6CFE31-630E-A734-3786-9E4611A90BD8}"/>
              </a:ext>
            </a:extLst>
          </p:cNvPr>
          <p:cNvSpPr txBox="1"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Screenshots of dashboard tabs: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Published data source of Task 1 is used to create dashboard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95530-14BD-3A76-ADC5-66434ACFA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16424"/>
            <a:ext cx="7214616" cy="47977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F83EFE-A7D5-6C2B-E75A-FD6A52D1BCFF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FB733-B0CB-62D3-6F87-944EC660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20AA2-304A-9D26-2318-D0A5486ED0EE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2: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009B68-AFD5-BBC7-FC52-8FD9B8D8EAA7}"/>
              </a:ext>
            </a:extLst>
          </p:cNvPr>
          <p:cNvSpPr txBox="1"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Screenshots of dashboard tabs: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Tab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A0ACE-8A65-E5B3-1F3E-1A719E52B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697" y="640080"/>
            <a:ext cx="4273814" cy="55504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94B330-3932-C4E6-2392-844A848920F1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8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FBC92-867F-EA77-598A-FFF84510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FD15B-6F50-2EF7-AB18-784178595317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2: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F06C0-1152-1ED9-8F50-E6872DA6CB6F}"/>
              </a:ext>
            </a:extLst>
          </p:cNvPr>
          <p:cNvSpPr txBox="1"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Screenshots of dashboard tabs: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/ Bottom sheet Action filter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10EB8-85E2-0F3D-BDE9-6281EFEC2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43479"/>
            <a:ext cx="7214616" cy="47436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BE1ED5-C5BC-C6B9-D1C7-FB712698EE5C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4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3C0B0-EC41-F469-4EB5-99E1C241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569C8-FF96-F321-4729-594ADA2FA482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2: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709E4A-1355-3074-E38D-380C4B1B4302}"/>
              </a:ext>
            </a:extLst>
          </p:cNvPr>
          <p:cNvSpPr txBox="1"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Screenshots of dashboard tabs: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 Tab that lists definitions and slider information!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B26355-5D9B-B3B5-A4D1-21A55A7C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99986"/>
            <a:ext cx="7214616" cy="52305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0E0F5A-FE0D-77CF-A09B-778F367BD032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9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CB920-BBFC-A56C-E367-F5F6FE76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E35C1-9C7F-6BBB-4556-48F1038E8B2E}"/>
              </a:ext>
            </a:extLst>
          </p:cNvPr>
          <p:cNvSpPr txBox="1"/>
          <p:nvPr/>
        </p:nvSpPr>
        <p:spPr>
          <a:xfrm>
            <a:off x="1335799" y="1158949"/>
            <a:ext cx="5461225" cy="11180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Additional Insights USA: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240CBD-329B-E7B4-2681-D1F3A443AF70}"/>
              </a:ext>
            </a:extLst>
          </p:cNvPr>
          <p:cNvSpPr txBox="1"/>
          <p:nvPr/>
        </p:nvSpPr>
        <p:spPr>
          <a:xfrm>
            <a:off x="1335799" y="2563907"/>
            <a:ext cx="5461225" cy="2976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Pareto Analysis: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 Approximately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42% of customers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contribute nearly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80% of total revenue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 Approximately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25% of customers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contribute around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 of total revenue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concentration highlights a core group of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high-value customers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who can be targeted through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personalized communications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tailored promotions, or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loyalty programs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maximize retention and lifetime value.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921E4-D3CF-AD73-31FD-E2890AC8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5" r="5" b="3581"/>
          <a:stretch>
            <a:fillRect/>
          </a:stretch>
        </p:blipFill>
        <p:spPr>
          <a:xfrm>
            <a:off x="8632584" y="3717984"/>
            <a:ext cx="2726267" cy="2421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824995-DDF3-844C-932E-11948C73D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94" b="6"/>
          <a:stretch>
            <a:fillRect/>
          </a:stretch>
        </p:blipFill>
        <p:spPr>
          <a:xfrm>
            <a:off x="8632584" y="1007533"/>
            <a:ext cx="2726267" cy="24214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7050FD-AA9C-AB6A-26F7-022058543A55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EA3C43-C92F-CE23-69A4-693685C0D9C9}"/>
              </a:ext>
            </a:extLst>
          </p:cNvPr>
          <p:cNvCxnSpPr/>
          <p:nvPr/>
        </p:nvCxnSpPr>
        <p:spPr>
          <a:xfrm flipH="1">
            <a:off x="9804400" y="873760"/>
            <a:ext cx="406400" cy="711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675725-11BC-FE34-6833-8882B8526601}"/>
              </a:ext>
            </a:extLst>
          </p:cNvPr>
          <p:cNvSpPr txBox="1"/>
          <p:nvPr/>
        </p:nvSpPr>
        <p:spPr>
          <a:xfrm>
            <a:off x="9450956" y="652939"/>
            <a:ext cx="1907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42 % Customers, 80% Revenue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830446-FC32-A8F5-E2AF-26B2AE4B751B}"/>
              </a:ext>
            </a:extLst>
          </p:cNvPr>
          <p:cNvCxnSpPr>
            <a:cxnSpLocks/>
          </p:cNvCxnSpPr>
          <p:nvPr/>
        </p:nvCxnSpPr>
        <p:spPr>
          <a:xfrm flipH="1">
            <a:off x="9554210" y="3717984"/>
            <a:ext cx="656590" cy="86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F18EF7-7B89-E773-43A2-0C1AD3E0C384}"/>
              </a:ext>
            </a:extLst>
          </p:cNvPr>
          <p:cNvSpPr txBox="1"/>
          <p:nvPr/>
        </p:nvSpPr>
        <p:spPr>
          <a:xfrm>
            <a:off x="9804400" y="3457657"/>
            <a:ext cx="1907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25 % Customers, 60% Revenue</a:t>
            </a:r>
          </a:p>
        </p:txBody>
      </p:sp>
    </p:spTree>
    <p:extLst>
      <p:ext uri="{BB962C8B-B14F-4D97-AF65-F5344CB8AC3E}">
        <p14:creationId xmlns:p14="http://schemas.microsoft.com/office/powerpoint/2010/main" val="2606237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8AEB9-77D7-DDC9-F121-C796D63B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D24F58-3982-5A71-9D81-F5B9F40364AD}"/>
              </a:ext>
            </a:extLst>
          </p:cNvPr>
          <p:cNvSpPr txBox="1"/>
          <p:nvPr/>
        </p:nvSpPr>
        <p:spPr>
          <a:xfrm>
            <a:off x="1616054" y="1070149"/>
            <a:ext cx="8959893" cy="100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General Insights: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6E38F-91C4-B85C-7AF3-1A345B4C5479}"/>
              </a:ext>
            </a:extLst>
          </p:cNvPr>
          <p:cNvSpPr txBox="1"/>
          <p:nvPr/>
        </p:nvSpPr>
        <p:spPr>
          <a:xfrm>
            <a:off x="1616054" y="2768321"/>
            <a:ext cx="8959892" cy="28285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Business Insights: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least profitable products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predominantly from the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United States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are associated with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discounts exceeding 65%,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indicating that aggressive discounting is significantly eroding margins.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shipping times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both the United States and Canada are approximately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 days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suggesting an opportunity to improve fulfillment efficiency and enhance customer experience.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Revenue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is heavily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concentrated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across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U.S. states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with New York, California, Texas, and Washington emerging as top-performing markets.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Consumer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represent the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strongest-performing product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segment in the United States, contributing the largest share of overall revenue.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2EBCD0-CBC6-D727-D335-E2D325F3800E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8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56EC4-97BB-A579-CB25-0B6C1D33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0332E-F9EF-ED06-9E6D-65A13358D0B8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Achtung!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A501ED-ADEB-BA8B-C7FE-4B79A8A416C0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extBox 1">
            <a:extLst>
              <a:ext uri="{FF2B5EF4-FFF2-40B4-BE49-F238E27FC236}">
                <a16:creationId xmlns:a16="http://schemas.microsoft.com/office/drawing/2014/main" id="{501FEA25-77CA-9676-612C-7A9E18543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365748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8525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DB3F0-FA79-F8E1-924F-B4AA9230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4A9AE-F58F-960A-039A-96EAC58ACB6A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16" name="Graphic 15" descr="Accept">
            <a:extLst>
              <a:ext uri="{FF2B5EF4-FFF2-40B4-BE49-F238E27FC236}">
                <a16:creationId xmlns:a16="http://schemas.microsoft.com/office/drawing/2014/main" id="{3350DDC4-7BA8-E863-8C16-8BB2DB0E3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D3EAD0-EC8F-E748-3776-7A6684A654C5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C34517-FF81-176E-B2B5-C4CC85EB6D01}"/>
              </a:ext>
            </a:extLst>
          </p:cNvPr>
          <p:cNvSpPr/>
          <p:nvPr/>
        </p:nvSpPr>
        <p:spPr>
          <a:xfrm>
            <a:off x="0" y="6461184"/>
            <a:ext cx="12192000" cy="39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1012</Words>
  <Application>Microsoft Macintosh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Singh</dc:creator>
  <cp:lastModifiedBy>Abhishek Singh</cp:lastModifiedBy>
  <cp:revision>8</cp:revision>
  <dcterms:created xsi:type="dcterms:W3CDTF">2026-01-18T18:27:27Z</dcterms:created>
  <dcterms:modified xsi:type="dcterms:W3CDTF">2026-01-19T13:49:09Z</dcterms:modified>
</cp:coreProperties>
</file>